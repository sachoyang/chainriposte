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</p:sldIdLst>
  <p:sldSz cx="24384000" cy="13716000"/>
  <p:notesSz cx="6858000" cy="9144000"/>
  <p:embeddedFontLst>
    <p:embeddedFont>
      <p:font typeface="Pretendard Light"/>
      <p:regular r:id="rId30"/>
    </p:embeddedFont>
    <p:embeddedFont>
      <p:font typeface="Pretendard Bold"/>
      <p:bold r:id="rId31"/>
    </p:embeddedFont>
    <p:embeddedFont>
      <p:font typeface="Pretendard ExtraBold"/>
      <p:bold r:id="rId32"/>
    </p:embeddedFont>
    <p:embeddedFont>
      <p:font typeface="Pretendard SemiBold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94944" y="676656"/>
            <a:ext cx="1014984" cy="12371832"/>
          </a:xfrm>
          <a:prstGeom prst="roundRect">
            <a:avLst>
              <a:gd name="adj" fmla="val 10810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4014215" y="6035040"/>
            <a:ext cx="4800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4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Portfolio</a:t>
            </a:r>
          </a:p>
        </p:txBody>
      </p:sp>
      <p:sp>
        <p:nvSpPr>
          <p:cNvPr id="4" name="TextBox 3"/>
          <p:cNvSpPr txBox="1"/>
          <p:nvPr/>
        </p:nvSpPr>
        <p:spPr>
          <a:xfrm rot="16200000">
            <a:off x="-1920240" y="1088136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92224" y="676656"/>
            <a:ext cx="21881592" cy="12371832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551176" y="1271016"/>
            <a:ext cx="18553176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214080" y="969264"/>
            <a:ext cx="1737360" cy="603504"/>
          </a:xfrm>
          <a:prstGeom prst="roundRect">
            <a:avLst>
              <a:gd name="adj" fmla="val 15151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1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4023360" y="3822191"/>
            <a:ext cx="17373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11000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ChainRiposte</a:t>
            </a:r>
          </a:p>
        </p:txBody>
      </p:sp>
      <p:sp>
        <p:nvSpPr>
          <p:cNvPr id="9" name="FREE TextBox 8"/>
          <p:cNvSpPr txBox="1"/>
          <p:nvPr/>
        </p:nvSpPr>
        <p:spPr>
          <a:xfrm>
            <a:off x="4023360" y="5559552"/>
            <a:ext cx="17373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4000">
                <a:solidFill>
                  <a:srgbClr val="000000"/>
                </a:solidFill>
                <a:latin typeface="Pretendard ExtraBold"/>
                <a:ea typeface="Pretendard ExtraBold"/>
                <a:cs typeface="Pretendard ExtraBold"/>
              </a:rPr>
              <a:t>양평화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439144" y="8001000"/>
            <a:ext cx="2624328" cy="0"/>
          </a:xfrm>
          <a:prstGeom prst="line">
            <a:avLst/>
          </a:prstGeom>
          <a:ln w="38100">
            <a:solidFill>
              <a:srgbClr val="007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48256" y="8641080"/>
            <a:ext cx="4866894" cy="960120"/>
          </a:xfrm>
          <a:prstGeom prst="roundRect">
            <a:avLst>
              <a:gd name="adj" fmla="val 1047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7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Unity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89470" y="8641080"/>
            <a:ext cx="4866894" cy="960120"/>
          </a:xfrm>
          <a:prstGeom prst="roundRect">
            <a:avLst>
              <a:gd name="adj" fmla="val 1047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7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C#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30684" y="8641080"/>
            <a:ext cx="4866894" cy="960120"/>
          </a:xfrm>
          <a:prstGeom prst="roundRect">
            <a:avLst>
              <a:gd name="adj" fmla="val 1047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7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1인 개발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471898" y="8641080"/>
            <a:ext cx="4866894" cy="960120"/>
          </a:xfrm>
          <a:prstGeom prst="roundRect">
            <a:avLst>
              <a:gd name="adj" fmla="val 1047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7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3주 (2026.07.14 ~ 08.03)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42032" y="10561320"/>
            <a:ext cx="20281392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423160" y="11018520"/>
            <a:ext cx="8906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400">
                <a:solidFill>
                  <a:srgbClr val="0073FF"/>
                </a:solidFill>
                <a:latin typeface="Pretendard SemiBold"/>
                <a:ea typeface="Pretendard SemiBold"/>
                <a:cs typeface="Pretendard SemiBold"/>
              </a:rPr>
              <a:t>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11585448"/>
            <a:ext cx="88879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2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Unity 퍼즐 + 패링 전투 · 매치3 → 보스전 반복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188952" y="10972800"/>
            <a:ext cx="0" cy="1234440"/>
          </a:xfrm>
          <a:prstGeom prst="line">
            <a:avLst/>
          </a:prstGeom>
          <a:ln w="1524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3039344" y="11018520"/>
            <a:ext cx="8906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400">
                <a:solidFill>
                  <a:srgbClr val="0073FF"/>
                </a:solidFill>
                <a:latin typeface="Pretendard SemiBold"/>
                <a:ea typeface="Pretendard SemiBold"/>
                <a:cs typeface="Pretendard SemiBold"/>
              </a:rP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57632" y="11585448"/>
            <a:ext cx="88879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2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170파일 / 25,546줄 · 157커밋 · EditMode 테스트 167개 전부 통과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2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두 장르를 한 자원으로 묶었다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퍼즐은 준비 구간, 보스전은 실력 구간.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4292072" y="4937760"/>
            <a:ext cx="8046720" cy="7360919"/>
          </a:xfrm>
          <a:prstGeom prst="roundRect">
            <a:avLst>
              <a:gd name="adj" fmla="val 1490"/>
            </a:avLst>
          </a:prstGeom>
          <a:solidFill>
            <a:srgbClr val="F5F5F5"/>
          </a:solidFill>
          <a:ln w="2032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600">
                <a:solidFill>
                  <a:srgbClr val="6A6A6A"/>
                </a:solidFill>
                <a:latin typeface="Pretendard Bold"/>
                <a:ea typeface="Pretendard Bold"/>
                <a:cs typeface="Pretendard Bold"/>
              </a:rPr>
              <a:t>스크린샷 — 퍼즐 화면 + 보스전 화면</a:t>
            </a:r>
          </a:p>
          <a:p>
            <a:pPr algn="ctr">
              <a:lnSpc>
                <a:spcPct val="115000"/>
              </a:lnSpc>
              <a:spcBef>
                <a:spcPts val="700"/>
              </a:spcBef>
            </a:pPr>
            <a:r>
              <a:rPr b="0" sz="2100">
                <a:solidFill>
                  <a:srgbClr val="999999"/>
                </a:solidFill>
                <a:latin typeface="Pretendard Light"/>
                <a:ea typeface="Pretendard Light"/>
                <a:cs typeface="Pretendard Light"/>
              </a:rPr>
              <a:t>세로 화면 2장을 위아래 또는 나란히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4937760"/>
            <a:ext cx="117408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1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한 판의 흐름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48256" y="5413248"/>
            <a:ext cx="1675180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월드맵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3436" y="5413248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4684" y="5413248"/>
            <a:ext cx="1675180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퍼즐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9865" y="5413248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1113" y="5413248"/>
            <a:ext cx="1675180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준비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6294" y="5413248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97542" y="5413248"/>
            <a:ext cx="1675180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보스전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2723" y="5413248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113971" y="5413248"/>
            <a:ext cx="1675180" cy="841248"/>
          </a:xfrm>
          <a:prstGeom prst="roundRect">
            <a:avLst>
              <a:gd name="adj" fmla="val 11956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다음 고리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48256" y="6565392"/>
            <a:ext cx="11740896" cy="2926080"/>
          </a:xfrm>
          <a:prstGeom prst="roundRect">
            <a:avLst>
              <a:gd name="adj" fmla="val 4062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6931152"/>
            <a:ext cx="110093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8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두 장르가 이어지는 지점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7498079"/>
            <a:ext cx="11009376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25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퍼즐에서 캔 소울로 레벨업하고, </a:t>
            </a:r>
            <a:r>
              <a:rPr b="0" sz="225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퍼즐에서 맞은 HP가 그대로 보스전으로 넘어간다.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25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죽으면 </a:t>
            </a:r>
            <a:r>
              <a:rPr b="0" sz="225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사슬만 끊기고 성장은 남는다</a:t>
            </a:r>
            <a:r>
              <a:rPr b="0" sz="225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빌드를 잃지 않으므로 다시 도전할 이유가 생긴다.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48256" y="9765792"/>
            <a:ext cx="11740896" cy="2532887"/>
          </a:xfrm>
          <a:prstGeom prst="roundRect">
            <a:avLst>
              <a:gd name="adj" fmla="val 4693"/>
            </a:avLst>
          </a:prstGeom>
          <a:solidFill>
            <a:srgbClr val="EC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48256" y="9765792"/>
            <a:ext cx="155448" cy="2532887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25496" y="9966960"/>
            <a:ext cx="10186416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0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난이도는 </a:t>
            </a:r>
            <a:r>
              <a:rPr b="0" sz="30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실행(패링)</a:t>
            </a:r>
            <a:r>
              <a:rPr b="0" sz="30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에서 오고, 성장은 </a:t>
            </a:r>
            <a:r>
              <a:rPr b="0" sz="30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모서리만 깎는다.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성장이 난이도를 지우면 퍼즐이 무의미해지고, 아무것도 안 하면 성장이 무의미해진다.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3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판 하나 = 에셋 하나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밸런스 수치는 코드에 없다. 전부 ScriptableObject 에셋이고, 인스펙터에서 고친다.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926312" y="4937760"/>
            <a:ext cx="8412480" cy="7360919"/>
          </a:xfrm>
          <a:prstGeom prst="roundRect">
            <a:avLst>
              <a:gd name="adj" fmla="val 1490"/>
            </a:avLst>
          </a:prstGeom>
          <a:solidFill>
            <a:srgbClr val="F5F5F5"/>
          </a:solidFill>
          <a:ln w="2032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600">
                <a:solidFill>
                  <a:srgbClr val="6A6A6A"/>
                </a:solidFill>
                <a:latin typeface="Pretendard Bold"/>
                <a:ea typeface="Pretendard Bold"/>
                <a:cs typeface="Pretendard Bold"/>
              </a:rPr>
              <a:t>스크린샷 — StageDataSO 인스펙터 전체</a:t>
            </a:r>
          </a:p>
          <a:p>
            <a:pPr algn="ctr">
              <a:lnSpc>
                <a:spcPct val="115000"/>
              </a:lnSpc>
              <a:spcBef>
                <a:spcPts val="700"/>
              </a:spcBef>
            </a:pPr>
            <a:r>
              <a:rPr b="0" sz="2100">
                <a:solidFill>
                  <a:srgbClr val="999999"/>
                </a:solidFill>
                <a:latin typeface="Pretendard Light"/>
                <a:ea typeface="Pretendard Light"/>
                <a:cs typeface="Pretendard Light"/>
              </a:rPr>
              <a:t>접힌 곳 없이 펼쳐서 · Project 창의 Data 폴더도 함께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4937760"/>
            <a:ext cx="11375136" cy="1874519"/>
          </a:xfrm>
          <a:prstGeom prst="roundRect">
            <a:avLst>
              <a:gd name="adj" fmla="val 634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32304" y="5193792"/>
            <a:ext cx="31546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22860">
            <a:solidFill>
              <a:srgbClr val="00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StageDataSO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6984" y="5193792"/>
            <a:ext cx="56692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8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912" y="5193792"/>
            <a:ext cx="3154680" cy="868680"/>
          </a:xfrm>
          <a:prstGeom prst="roundRect">
            <a:avLst>
              <a:gd name="adj" fmla="val 10526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ToConfig()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08592" y="5193792"/>
            <a:ext cx="56692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8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19" y="5193792"/>
            <a:ext cx="31546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22860">
            <a:solidFill>
              <a:srgbClr val="00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퍼즐 · 전투 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2304" y="618134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인스펙터가 다루기 좋은 값을 </a:t>
            </a:r>
            <a:r>
              <a:rPr b="0" sz="23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엔진이 쓰는 형태로 번역하는 창구가 하나</a:t>
            </a:r>
            <a:r>
              <a:rPr b="0" sz="23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7086600"/>
            <a:ext cx="11375136" cy="2606040"/>
          </a:xfrm>
          <a:prstGeom prst="roundRect">
            <a:avLst>
              <a:gd name="adj" fmla="val 456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14016" y="7452360"/>
            <a:ext cx="106436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번역은 한 곳에서만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6" y="8019288"/>
            <a:ext cx="10643616" cy="1307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보드는 </a:t>
            </a: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"OOWOO"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문자열로 그린다 — git diff에 모양이 그대로 보인다.</a:t>
            </a:r>
          </a:p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마스크와 벽 좌표로 바꾸면서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위아래를 뒤집는 곳이 딱 한 군데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다. 두 곳에서 뒤집으면 제자리다.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48256" y="9966960"/>
            <a:ext cx="11375136" cy="2331719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10332720"/>
            <a:ext cx="106436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늘리는 비용이 에셋 1개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10899648"/>
            <a:ext cx="10643616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스테이지 · 캐릭터 · 보스 · 타일 — 전부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에셋 하나 추가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붙는다.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SO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10종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· 데이터 에셋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20여 개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· 코드에 상수로 박힌 밸런스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0개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4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퍼즐 엔진 — 한 번의 스왑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① — 엔진이 결과를 &lt;b&gt;한 번에 끝까지&lt;/b&gt; 계산하고, 화면은 그 기록을 재생만 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4840712" y="4937760"/>
            <a:ext cx="7498079" cy="7360919"/>
          </a:xfrm>
          <a:prstGeom prst="roundRect">
            <a:avLst>
              <a:gd name="adj" fmla="val 1490"/>
            </a:avLst>
          </a:prstGeom>
          <a:solidFill>
            <a:srgbClr val="F5F5F5"/>
          </a:solidFill>
          <a:ln w="2032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600">
                <a:solidFill>
                  <a:srgbClr val="6A6A6A"/>
                </a:solidFill>
                <a:latin typeface="Pretendard Bold"/>
                <a:ea typeface="Pretendard Bold"/>
                <a:cs typeface="Pretendard Bold"/>
              </a:rPr>
              <a:t>▶ 영상 5초 — 매치 → 연쇄 → 낙하</a:t>
            </a:r>
          </a:p>
          <a:p>
            <a:pPr algn="ctr">
              <a:lnSpc>
                <a:spcPct val="115000"/>
              </a:lnSpc>
              <a:spcBef>
                <a:spcPts val="700"/>
              </a:spcBef>
            </a:pPr>
            <a:r>
              <a:rPr b="0" sz="2100">
                <a:solidFill>
                  <a:srgbClr val="999999"/>
                </a:solidFill>
                <a:latin typeface="Pretendard Light"/>
                <a:ea typeface="Pretendard Light"/>
                <a:cs typeface="Pretendard Light"/>
              </a:rPr>
              <a:t>한 번의 스왑이 끝까지 이어지는 장면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4937760"/>
            <a:ext cx="12289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TrySwap(a, b)</a:t>
            </a:r>
            <a:r>
              <a:rPr b="0" sz="21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 안에서 도는 순서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48256" y="5394960"/>
            <a:ext cx="1784908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1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교환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3164" y="5394960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74412" y="5394960"/>
            <a:ext cx="1784908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1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매치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321" y="5394960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0569" y="5394960"/>
            <a:ext cx="1784908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1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파괴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5478" y="5394960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6726" y="5394960"/>
            <a:ext cx="1784908" cy="841248"/>
          </a:xfrm>
          <a:prstGeom prst="roundRect">
            <a:avLst>
              <a:gd name="adj" fmla="val 1195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1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중력 · 리필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11635" y="5394960"/>
            <a:ext cx="5669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0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52883" y="5394960"/>
            <a:ext cx="1784908" cy="841248"/>
          </a:xfrm>
          <a:prstGeom prst="roundRect">
            <a:avLst>
              <a:gd name="adj" fmla="val 11956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1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연쇄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48256" y="6528816"/>
            <a:ext cx="12289536" cy="2514600"/>
          </a:xfrm>
          <a:prstGeom prst="roundRect">
            <a:avLst>
              <a:gd name="adj" fmla="val 4727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6894576"/>
            <a:ext cx="115580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매치 찾기 — 런을 모아 합친다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7461504"/>
            <a:ext cx="11558016" cy="1216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가로 · 세로를 훑어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3칸 이상 이어진 런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을 모으고, 겹치면 합친다(ㄱ자 · T자).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파괴 목록은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HashSet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이라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교차점이 두 번 세어지지 않는다.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48256" y="9317736"/>
            <a:ext cx="12289536" cy="2980943"/>
          </a:xfrm>
          <a:prstGeom prst="roundRect">
            <a:avLst>
              <a:gd name="adj" fmla="val 3987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14016" y="9683496"/>
            <a:ext cx="115580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모델 / 뷰 — 완결된 기록을 넘긴다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14016" y="10250424"/>
            <a:ext cx="11558016" cy="1682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매치가 없으면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그 자리에서 되돌리고 턴도 안 센다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그래서 수가 없으면 판이 멈춘다(다음 장).</a:t>
            </a:r>
          </a:p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SwapResult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하나에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연쇄 · 낙하 · 기믹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 전부 담긴다. 연출 중에도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모델은 이미 최종 상태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라 건너뛰어도 결과가 같다.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5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둘 수 있는 수를 전부 센다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② — 매치 없는 스왑은 턴을 안 먹으므로, 수가 0이면 판이 영영 멈춘다.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9985248" cy="4480560"/>
          </a:xfrm>
          <a:prstGeom prst="roundRect">
            <a:avLst>
              <a:gd name="adj" fmla="val 2653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9736" y="5349240"/>
            <a:ext cx="91622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3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전수 조사 — 스왑 → 판정 → 되돌리기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6099048"/>
            <a:ext cx="9162288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후보는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인접한 두 칸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뿐이다. 각 칸에서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오른쪽 · 위 두 방향만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보면 모든 쌍을 정확히 한 번 센다.</a:t>
            </a:r>
          </a:p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실제로 바꿔 보고 판정한 뒤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원래대로 되돌린다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탐색이 보드를 남기지 않는다.</a:t>
            </a:r>
          </a:p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판정 기준을 엔진의 실제 스왑과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같은 함수 하나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공유한다. 따로 적으면 «둘 수 있다고 했는데 못 두는» 유령 수가 생긴다.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53544" y="4937760"/>
            <a:ext cx="9985248" cy="4480560"/>
          </a:xfrm>
          <a:prstGeom prst="roundRect">
            <a:avLst>
              <a:gd name="adj" fmla="val 2653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765024" y="5349240"/>
            <a:ext cx="91622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3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핵심 최적화 — 전체를 다시 훑지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65024" y="6099048"/>
            <a:ext cx="9162288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65"/>
              </a:spcAft>
            </a:pPr>
            <a:r>
              <a:rPr b="0" sz="2279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전제</a:t>
            </a: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: 정착이 끝난 보드에는 매치가 하나도 없다.</a:t>
            </a:r>
          </a:p>
          <a:p>
            <a:pPr algn="l">
              <a:lnSpc>
                <a:spcPct val="130000"/>
              </a:lnSpc>
              <a:spcAft>
                <a:spcPts val="665"/>
              </a:spcAft>
            </a:pP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그러면 새 매치는 반드시 </a:t>
            </a:r>
            <a:r>
              <a:rPr b="0" sz="2279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바뀐 두 칸 중 하나를 지난다</a:t>
            </a: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→ 보드 전체 스캔 대신 그 칸에서 </a:t>
            </a:r>
            <a:r>
              <a:rPr b="0" sz="2279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네 방향으로 같은 종류를 세는</a:t>
            </a: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국소 검사면 충분하다.</a:t>
            </a:r>
          </a:p>
          <a:p>
            <a:pPr algn="l">
              <a:lnSpc>
                <a:spcPct val="130000"/>
              </a:lnSpc>
              <a:spcAft>
                <a:spcPts val="665"/>
              </a:spcAft>
            </a:pPr>
            <a:r>
              <a:rPr b="0" sz="2279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O(W²H²) → O(W·H·(W+H)).</a:t>
            </a: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9×7 보드에서 약 </a:t>
            </a:r>
            <a:r>
              <a:rPr b="0" sz="2279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8,000 → 2,000 연산</a:t>
            </a: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이고, 매 스왑 끝마다 도는 검사다.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48256" y="9738360"/>
            <a:ext cx="20290536" cy="2560319"/>
          </a:xfrm>
          <a:prstGeom prst="roundRect">
            <a:avLst>
              <a:gd name="adj" fmla="val 4642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1176" y="9957816"/>
            <a:ext cx="19284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85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수가 0이면 — 섞는다 (턴은 소모하지 않는다)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1176" y="10561320"/>
            <a:ext cx="19284696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40"/>
              </a:spcAft>
            </a:pP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움직일 수 있는 타일만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모아(벽 · 보스 · 부패 · 사슬은 제자리)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Fisher–Yates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O(n) 균등 셔플한다. 난수를 주입받으므로 같은 씨앗이면 그대로 재현된다.</a:t>
            </a:r>
          </a:p>
          <a:p>
            <a:pPr algn="l">
              <a:lnSpc>
                <a:spcPct val="126000"/>
              </a:lnSpc>
              <a:spcAft>
                <a:spcPts val="540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섞자마자 매치가 터져 있으면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공짜 콤보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가 되므로 될 때까지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다시 뽑는다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(거부 표본추출, 최대 32회). 값이 아니라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`Tile` 객체째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옮기므로 폭탄 카운트가 따라간다.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6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빈칸을 남기지 않는 중력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③ — 벽과 구멍이 뚫린 비정형 보드에서도 성립해야 하는 규칙.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20290536" cy="1115568"/>
          </a:xfrm>
          <a:prstGeom prst="roundRect">
            <a:avLst>
              <a:gd name="adj" fmla="val 10655"/>
            </a:avLst>
          </a:prstGeom>
          <a:solidFill>
            <a:srgbClr val="EC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4937760"/>
            <a:ext cx="155448" cy="1115568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25496" y="5138928"/>
            <a:ext cx="1873605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불변식 — 정착이 끝나면 </a:t>
            </a:r>
            <a:r>
              <a:rPr b="0" sz="3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구멍(X) 이외의 모든 칸이 채워져 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8256" y="6309360"/>
            <a:ext cx="20290536" cy="4023360"/>
          </a:xfrm>
          <a:prstGeom prst="roundRect">
            <a:avLst>
              <a:gd name="adj" fmla="val 2954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6693408"/>
            <a:ext cx="402336" cy="402336"/>
          </a:xfrm>
          <a:prstGeom prst="rect">
            <a:avLst/>
          </a:prstGeom>
          <a:solidFill>
            <a:srgbClr val="7AB8FF"/>
          </a:solidFill>
          <a:ln w="15240">
            <a:solidFill>
              <a:srgbClr val="00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63240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11296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59352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7408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55464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15184" y="7141464"/>
            <a:ext cx="402336" cy="402336"/>
          </a:xfrm>
          <a:prstGeom prst="rect">
            <a:avLst/>
          </a:prstGeom>
          <a:solidFill>
            <a:srgbClr val="7AB8FF"/>
          </a:solidFill>
          <a:ln w="15240">
            <a:solidFill>
              <a:srgbClr val="00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63240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11296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59352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07408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55464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15184" y="7589520"/>
            <a:ext cx="402336" cy="402336"/>
          </a:xfrm>
          <a:prstGeom prst="rect">
            <a:avLst/>
          </a:prstGeom>
          <a:solidFill>
            <a:srgbClr val="7AB8FF"/>
          </a:solidFill>
          <a:ln w="15240">
            <a:solidFill>
              <a:srgbClr val="00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63240" y="7589520"/>
            <a:ext cx="402336" cy="402336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1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11296" y="7589520"/>
            <a:ext cx="402336" cy="402336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1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59352" y="7589520"/>
            <a:ext cx="402336" cy="402336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1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07408" y="7589520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55464" y="7589520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15184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63240" y="8037576"/>
            <a:ext cx="402336" cy="402336"/>
          </a:xfrm>
          <a:prstGeom prst="rect">
            <a:avLst/>
          </a:prstGeom>
          <a:solidFill>
            <a:srgbClr val="7AB8FF"/>
          </a:solidFill>
          <a:ln w="15240">
            <a:solidFill>
              <a:srgbClr val="00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11296" y="8037576"/>
            <a:ext cx="402336" cy="402336"/>
          </a:xfrm>
          <a:prstGeom prst="rect">
            <a:avLst/>
          </a:prstGeom>
          <a:solidFill>
            <a:srgbClr val="FDF0EF"/>
          </a:solidFill>
          <a:ln w="20320">
            <a:solidFill>
              <a:srgbClr val="D136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59352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07408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55464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5184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063240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11296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59352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07408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55464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40864" y="9015984"/>
            <a:ext cx="31912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100">
                <a:solidFill>
                  <a:srgbClr val="5C5C5C"/>
                </a:solidFill>
                <a:latin typeface="Pretendard Light"/>
                <a:ea typeface="Pretendard Light"/>
                <a:cs typeface="Pretendard Light"/>
              </a:rPr>
              <a:t>① 갇힌 칸 + 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67528" y="6693408"/>
            <a:ext cx="786384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3400">
                <a:solidFill>
                  <a:srgbClr val="0073FF"/>
                </a:solidFill>
                <a:latin typeface="Pretendard Bold"/>
                <a:ea typeface="Pretendard Bold"/>
                <a:cs typeface="Pretendard Bold"/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53912" y="6693408"/>
            <a:ext cx="402336" cy="402336"/>
          </a:xfrm>
          <a:prstGeom prst="rect">
            <a:avLst/>
          </a:prstGeom>
          <a:solidFill>
            <a:srgbClr val="FDF0EF"/>
          </a:solidFill>
          <a:ln w="20320">
            <a:solidFill>
              <a:srgbClr val="D136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01968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50024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98080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46136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394192" y="6693408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53912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01968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50024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80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46136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394192" y="7141464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53912" y="7589520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01968" y="7589520"/>
            <a:ext cx="402336" cy="402336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1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50024" y="7589520"/>
            <a:ext cx="402336" cy="402336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1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벽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80" y="7589520"/>
            <a:ext cx="402336" cy="402336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1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벽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46136" y="7589520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394192" y="7589520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53912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01968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050024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498080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946136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394192" y="8037576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53912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01968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050024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98080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46136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394192" y="8485632"/>
            <a:ext cx="402336" cy="402336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79592" y="9015984"/>
            <a:ext cx="31912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100">
                <a:solidFill>
                  <a:srgbClr val="5C5C5C"/>
                </a:solidFill>
                <a:latin typeface="Pretendard Light"/>
                <a:ea typeface="Pretendard Light"/>
                <a:cs typeface="Pretendard Light"/>
              </a:rPr>
              <a:t>② 한 칸씩 밀었다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63456" y="6675120"/>
            <a:ext cx="12335256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85"/>
              </a:spcAft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① 직선 낙하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열 안에서 아래로 압축한다. 구멍은 통과하고 벽 위에는 쌓인다.</a:t>
            </a:r>
          </a:p>
          <a:p>
            <a:pPr algn="l">
              <a:lnSpc>
                <a:spcPct val="128000"/>
              </a:lnSpc>
              <a:spcAft>
                <a:spcPts val="685"/>
              </a:spcAft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② 대각선 슬라이드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벽 그늘에 든 칸은 대각선 위에서 끌어내리고, 벽에 얹혀 못 내려가는 타일은 대각선 아래로 흘려보낸다.</a:t>
            </a:r>
          </a:p>
          <a:p>
            <a:pPr algn="l">
              <a:lnSpc>
                <a:spcPct val="128000"/>
              </a:lnSpc>
              <a:spcAft>
                <a:spcPts val="685"/>
              </a:spcAft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③ 리필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각 열 꼭대기의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연속된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빈 칸만 새 타일로 채운다(중간 빈 칸은 다음 웨이브의 낙하 몫이다).</a:t>
            </a:r>
          </a:p>
          <a:p>
            <a:pPr algn="l">
              <a:lnSpc>
                <a:spcPct val="128000"/>
              </a:lnSpc>
              <a:spcAft>
                <a:spcPts val="685"/>
              </a:spcAft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④ 갇힌 칸 끌어오기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①~③이 전부 멈췄는데 빈 칸이 남으면, 그 칸에서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리필이 닿는 자리까지 8방향 너비 우선 탐색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으로 최단 경로를 찾아 길 위의 타일을 한 칸씩 민다.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구멍이 반대로 꼭대기까지 걸어 올라간다.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48256" y="10588752"/>
            <a:ext cx="20290536" cy="1709927"/>
          </a:xfrm>
          <a:prstGeom prst="roundRect">
            <a:avLst>
              <a:gd name="adj" fmla="val 695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551176" y="11114532"/>
            <a:ext cx="2011680" cy="658368"/>
          </a:xfrm>
          <a:prstGeom prst="roundRect">
            <a:avLst>
              <a:gd name="adj" fmla="val 13888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실측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65776" y="10771632"/>
            <a:ext cx="3657600" cy="13441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1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99.08%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80576" y="10771632"/>
            <a:ext cx="12609576" cy="13441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갇힌 칸의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99.08%가 끌어오기로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메워진다 · 제자리 생성은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0.92%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(벽 · 보드 끝에 완전히 둘러싸여 길조차 없는 칸)  ·  경로 탐색은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Queue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+ 「어디서 왔는가」 사전으로 되짚어 만든다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7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2차원 격자를 저장하는 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④ — 유니티는 </a:t>
            </a:r>
            <a:r>
              <a:rPr b="0" sz="2116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bool[,]</a:t>
            </a: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를 직렬화하지 못한다. 그래서 &lt;b&gt;눕혀야&lt;/b&gt; 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20290536" cy="3977639"/>
          </a:xfrm>
          <a:prstGeom prst="roundRect">
            <a:avLst>
              <a:gd name="adj" fmla="val 298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88336" y="5440680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9272" y="5440680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50208" y="5440680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81144" y="5440680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5440680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88336" y="6071616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9272" y="6071616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50208" y="6071616"/>
            <a:ext cx="566928" cy="566928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81144" y="6071616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6071616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88336" y="6702552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9272" y="6702552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0208" y="6702552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81144" y="6702552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6702552"/>
            <a:ext cx="566928" cy="566928"/>
          </a:xfrm>
          <a:prstGeom prst="rect">
            <a:avLst/>
          </a:prstGeom>
          <a:solidFill>
            <a:srgbClr val="EBEBEB"/>
          </a:solidFill>
          <a:ln w="889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b="0" sz="2000">
                <a:solidFill>
                  <a:srgbClr val="5C5C5C"/>
                </a:solidFill>
                <a:latin typeface="Pretendard Bold"/>
                <a:ea typeface="Pretendard Bold"/>
                <a:cs typeface="Pretendard Bold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3936" y="7434072"/>
            <a:ext cx="4919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100">
                <a:solidFill>
                  <a:srgbClr val="5C5C5C"/>
                </a:solidFill>
                <a:latin typeface="Pretendard Light"/>
                <a:ea typeface="Pretendard Light"/>
                <a:cs typeface="Pretendard Light"/>
              </a:rPr>
              <a:t>width = 5 · </a:t>
            </a:r>
            <a:r>
              <a:rPr b="0" sz="1932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boardRows[1][2]</a:t>
            </a:r>
            <a:r>
              <a:rPr b="0" sz="2100">
                <a:solidFill>
                  <a:srgbClr val="5C5C5C"/>
                </a:solidFill>
                <a:latin typeface="Pretendard Light"/>
                <a:ea typeface="Pretendard Light"/>
                <a:cs typeface="Pretendard Light"/>
              </a:rPr>
              <a:t> →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5321808"/>
            <a:ext cx="14913864" cy="3209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문제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유니티 직렬화기는 다차원 배열도 중첩 배열도 저장하지 못한다. 인스펙터에 격자를 띄우려면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데이터가 먼저 저장 가능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해야 한다.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표준 해법(평탄화)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2차원을 1차원으로 눕히고 번호로 좌표를 되찾는다.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행 우선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으로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index = row × width + x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, 역산은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row = i / width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·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x = i % width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그래서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가로 크기를 반드시 같이 저장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해야 한다.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이 프로젝트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행마다 문자열 하나(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string[] boardRows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).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boardRows[row][x]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는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같은 행 우선 배치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이고, 다만 그 곱셈을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문자열 컨테이너가 대신 들고 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48256" y="9189720"/>
            <a:ext cx="9962388" cy="3108960"/>
          </a:xfrm>
          <a:prstGeom prst="roundRect">
            <a:avLst>
              <a:gd name="adj" fmla="val 3823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59736" y="9601200"/>
            <a:ext cx="91394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3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왜 리스트가 아니라 문자열인가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9736" y="10351008"/>
            <a:ext cx="913942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칸이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3상태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(O · X · W)라 </a:t>
            </a: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List&lt;bool&gt;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로는 못 담는다.</a:t>
            </a:r>
          </a:p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git diff에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`"OOWOO"`로 사람이 읽힌다.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원소 63개 리스트는 안 읽힌다.</a:t>
            </a:r>
          </a:p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만들어 둔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스테이지 8개를 옮기지 않아도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된다.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376404" y="9189720"/>
            <a:ext cx="9962388" cy="3108960"/>
          </a:xfrm>
          <a:prstGeom prst="roundRect">
            <a:avLst>
              <a:gd name="adj" fmla="val 3823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87884" y="9601200"/>
            <a:ext cx="91394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3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번호는 이럴 때 쓴다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87884" y="10351008"/>
            <a:ext cx="913942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65"/>
              </a:spcAft>
            </a:pP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드래그로 칠할 때 </a:t>
            </a:r>
            <a:r>
              <a:rPr b="0" sz="2279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마지막에 칠한 칸</a:t>
            </a: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을 번호 하나로 비교한다.</a:t>
            </a:r>
          </a:p>
          <a:p>
            <a:pPr algn="l">
              <a:lnSpc>
                <a:spcPct val="130000"/>
              </a:lnSpc>
              <a:spcAft>
                <a:spcPts val="665"/>
              </a:spcAft>
            </a:pP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런타임은 반대로 편다 — 엔진은 순수 C#이라 </a:t>
            </a:r>
            <a:r>
              <a:rPr b="0" sz="2279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진짜 2차원 `bool[x, y]`</a:t>
            </a:r>
            <a:r>
              <a:rPr b="0" sz="2279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8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격자를 그리고 칠하기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⑤ — 인스펙터의 격자는 위젯이 아니라 &lt;b&gt;직접 그린 사각형&lt;/b&gt;이다.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926312" y="4937760"/>
            <a:ext cx="8412480" cy="7360919"/>
          </a:xfrm>
          <a:prstGeom prst="roundRect">
            <a:avLst>
              <a:gd name="adj" fmla="val 1490"/>
            </a:avLst>
          </a:prstGeom>
          <a:solidFill>
            <a:srgbClr val="F5F5F5"/>
          </a:solidFill>
          <a:ln w="2032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600">
                <a:solidFill>
                  <a:srgbClr val="6A6A6A"/>
                </a:solidFill>
                <a:latin typeface="Pretendard Bold"/>
                <a:ea typeface="Pretendard Bold"/>
                <a:cs typeface="Pretendard Bold"/>
              </a:rPr>
              <a:t>스크린샷 — 인스펙터 격자 + Board Editor 창</a:t>
            </a:r>
          </a:p>
          <a:p>
            <a:pPr algn="ctr">
              <a:lnSpc>
                <a:spcPct val="115000"/>
              </a:lnSpc>
              <a:spcBef>
                <a:spcPts val="700"/>
              </a:spcBef>
            </a:pPr>
            <a:r>
              <a:rPr b="0" sz="2100">
                <a:solidFill>
                  <a:srgbClr val="999999"/>
                </a:solidFill>
                <a:latin typeface="Pretendard Light"/>
                <a:ea typeface="Pretendard Light"/>
                <a:cs typeface="Pretendard Light"/>
              </a:rPr>
              <a:t>같은 스테이지를 두 곳에서 편집하는 화면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4937760"/>
            <a:ext cx="11375136" cy="2331720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6" y="5303520"/>
            <a:ext cx="106436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0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그리기 — 즉시 모드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6" y="5870448"/>
            <a:ext cx="10643616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GetRect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자리 하나를 받고, 칸의 사각형을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직접 계산해 채운다.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버튼 63개를 만드는 게 아니라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이벤트마다 다시 그린다.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7543800"/>
            <a:ext cx="11375136" cy="2331720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4016" y="7909560"/>
            <a:ext cx="106436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0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칠하기 — 좌표를 번호로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4016" y="8476488"/>
            <a:ext cx="10643616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마우스가 어느 칸인지는 같은 식의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역산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이다.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같은 칸은 한 드래그에서 한 번만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처리한다 — 안 막으면 Undo 기록이 수십 개 쌓인다.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48256" y="10149840"/>
            <a:ext cx="11375136" cy="2148839"/>
          </a:xfrm>
          <a:prstGeom prst="roundRect">
            <a:avLst>
              <a:gd name="adj" fmla="val 5531"/>
            </a:avLst>
          </a:prstGeom>
          <a:solidFill>
            <a:srgbClr val="EC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10149840"/>
            <a:ext cx="155448" cy="2148839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25496" y="10351008"/>
            <a:ext cx="9820656" cy="1746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6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그리는 코드는 한 벌, 편집 상태는 각자</a:t>
            </a:r>
          </a:p>
          <a:p>
            <a:pPr algn="l">
              <a:lnSpc>
                <a:spcPct val="122000"/>
              </a:lnSpc>
              <a:spcBef>
                <a:spcPts val="950"/>
              </a:spcBef>
            </a:pPr>
            <a:r>
              <a:rPr b="0" sz="218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인스펙터와 전용 창이 </a:t>
            </a:r>
            <a:r>
              <a:rPr b="0" sz="218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같은 그리기 코드</a:t>
            </a:r>
            <a:r>
              <a:rPr b="0" sz="218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를 부르고, 「어느 칸을 칠하는 중인가」만 </a:t>
            </a:r>
            <a:r>
              <a:rPr b="0" sz="218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창마다 하나씩</a:t>
            </a:r>
            <a:r>
              <a:rPr b="0" sz="218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들고 넘긴다 — </a:t>
            </a: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b="0" sz="218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이면 서로 덮어써 드래그가 끊긴다.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9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리듬 패링 전투 — 채보와 판정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⑥ — 보스 공격은 애니메이션이 아니라 &lt;b&gt;악보&lt;/b&gt;다.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4840712" y="4937760"/>
            <a:ext cx="7498079" cy="7360919"/>
          </a:xfrm>
          <a:prstGeom prst="roundRect">
            <a:avLst>
              <a:gd name="adj" fmla="val 1490"/>
            </a:avLst>
          </a:prstGeom>
          <a:solidFill>
            <a:srgbClr val="F5F5F5"/>
          </a:solidFill>
          <a:ln w="2032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600">
                <a:solidFill>
                  <a:srgbClr val="6A6A6A"/>
                </a:solidFill>
                <a:latin typeface="Pretendard Bold"/>
                <a:ea typeface="Pretendard Bold"/>
                <a:cs typeface="Pretendard Bold"/>
              </a:rPr>
              <a:t>▶ 영상 5초 — 패링 판정 링</a:t>
            </a:r>
          </a:p>
          <a:p>
            <a:pPr algn="ctr">
              <a:lnSpc>
                <a:spcPct val="115000"/>
              </a:lnSpc>
              <a:spcBef>
                <a:spcPts val="700"/>
              </a:spcBef>
            </a:pPr>
            <a:r>
              <a:rPr b="0" sz="2100">
                <a:solidFill>
                  <a:srgbClr val="999999"/>
                </a:solidFill>
                <a:latin typeface="Pretendard Light"/>
                <a:ea typeface="Pretendard Light"/>
                <a:cs typeface="Pretendard Light"/>
              </a:rPr>
              <a:t>+ 인살 컷씬 · 정지 이미지로는 설명이 안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4937760"/>
            <a:ext cx="12289536" cy="2286000"/>
          </a:xfrm>
          <a:prstGeom prst="roundRect">
            <a:avLst>
              <a:gd name="adj" fmla="val 520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6" y="5303520"/>
            <a:ext cx="115580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0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데이터 — 노트 = 값 3개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6" y="5870448"/>
            <a:ext cx="11558016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타격 시점(박) · 예비동작 길이(박) · 피해.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패턴 = BPM + 길이 + 노트 목록.</a:t>
            </a:r>
          </a:p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연속기는 별도 타입이 아니라 촘촘히 찍은 노트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7461504"/>
            <a:ext cx="12289536" cy="2331720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4016" y="7827264"/>
            <a:ext cx="115580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0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판정 — 누른 순간 결판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4016" y="8394192"/>
            <a:ext cx="11558016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[타격 − 윈도우, 타격 + 유예]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안의 노트 중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가장 임박한 하나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를 그 자리에서 지운다.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밖에서 누르면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헛침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잠기고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보스가 체간을 되찾는다.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48256" y="10030968"/>
            <a:ext cx="12289536" cy="2267711"/>
          </a:xfrm>
          <a:prstGeom prst="roundRect">
            <a:avLst>
              <a:gd name="adj" fmla="val 524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10396728"/>
            <a:ext cx="115580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0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표시 — 거리 = 남은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10963656"/>
            <a:ext cx="11558016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반지름을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`1 + 남은시간 × 접근속도`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정한다 → 회색 띠의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두께가 곧 판정 폭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이다.</a:t>
            </a:r>
          </a:p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흰 원의 안쪽 테두리가 노트의 위치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이고, 띠에 겹친 동안이 성공 구간이다.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10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프레임에 기대지 않는 시간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⑦ — 같은 입력이면 프레임레이트가 달라도 &lt;b&gt;같은 결과&lt;/b&gt;가 나온다.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20290536" cy="1691640"/>
          </a:xfrm>
          <a:prstGeom prst="roundRect">
            <a:avLst>
              <a:gd name="adj" fmla="val 7027"/>
            </a:avLst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4937760"/>
            <a:ext cx="155448" cy="1691640"/>
          </a:xfrm>
          <a:prstGeom prst="rect">
            <a:avLst/>
          </a:prstGeom>
          <a:solidFill>
            <a:srgbClr val="D13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1216" y="5120640"/>
            <a:ext cx="1864461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0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문제 — 매 프레임 </a:t>
            </a:r>
            <a:r>
              <a:rPr b="0" sz="276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dt</a:t>
            </a:r>
            <a:r>
              <a:rPr b="0" sz="30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만큼 통째로 굴리면</a:t>
            </a:r>
          </a:p>
          <a:p>
            <a:pPr algn="l">
              <a:lnSpc>
                <a:spcPct val="122000"/>
              </a:lnSpc>
              <a:spcBef>
                <a:spcPts val="800"/>
              </a:spcBef>
            </a:pP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타격 · 판정 만료 · 예비동작 시작이 </a:t>
            </a:r>
            <a:r>
              <a:rPr b="0" sz="25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한 프레임 안에 뭉쳐</a:t>
            </a: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순서가 뒤바뀌고, 처리도 최대 한 프레임 늦는다.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8256" y="6867144"/>
            <a:ext cx="20290536" cy="2395728"/>
          </a:xfrm>
          <a:prstGeom prst="roundRect">
            <a:avLst>
              <a:gd name="adj" fmla="val 3816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7104888"/>
            <a:ext cx="1928469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b="0" sz="210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while (remaining &gt; 0) {</a:t>
            </a:r>
          </a:p>
          <a:p>
            <a:pPr algn="l">
              <a:lnSpc>
                <a:spcPct val="134000"/>
              </a:lnSpc>
            </a:pPr>
            <a:r>
              <a:rPr b="0" sz="210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    step = min(remaining, 다음_사건까지, 플레이어_타이머);</a:t>
            </a:r>
          </a:p>
          <a:p>
            <a:pPr algn="l">
              <a:lnSpc>
                <a:spcPct val="134000"/>
              </a:lnSpc>
            </a:pPr>
            <a:r>
              <a:rPr b="0" sz="210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    Advance(step);        // 경계까지만 시간을 흘린다</a:t>
            </a:r>
          </a:p>
          <a:p>
            <a:pPr algn="l">
              <a:lnSpc>
                <a:spcPct val="134000"/>
              </a:lnSpc>
            </a:pPr>
            <a:r>
              <a:rPr b="0" sz="210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    remaining -= step;</a:t>
            </a:r>
          </a:p>
          <a:p>
            <a:pPr algn="l">
              <a:lnSpc>
                <a:spcPct val="134000"/>
              </a:lnSpc>
            </a:pPr>
            <a:r>
              <a:rPr b="0" sz="210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48256" y="9500615"/>
            <a:ext cx="9962388" cy="2788920"/>
          </a:xfrm>
          <a:prstGeom prst="roundRect">
            <a:avLst>
              <a:gd name="adj" fmla="val 4262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59736" y="9912095"/>
            <a:ext cx="91394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3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방법 — 사건 경계까지만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9736" y="10661903"/>
            <a:ext cx="9139428" cy="1216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dt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를 통째로 흘리지 않고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다음 사건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(예비동작 시작 · 타격 · 유예 만료 · 패턴 종료)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직전까지만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잘라 진행한다.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76404" y="9500615"/>
            <a:ext cx="9962388" cy="2788920"/>
          </a:xfrm>
          <a:prstGeom prst="roundRect">
            <a:avLst>
              <a:gd name="adj" fmla="val 4262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87884" y="9912095"/>
            <a:ext cx="91394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3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효과 — 전투를 테스트한다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87884" y="10661903"/>
            <a:ext cx="9139428" cy="1216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시간이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Tick(초)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로만 흐르고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UnityEngine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을 안 쓰므로, 패링 · 헛침 · 인살 · 페이즈 전환을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엔진 없이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검증한다.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11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리듬(채보) 에디터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핵심 구현 ⑧ — 보스 공격을 &lt;b&gt;그려서&lt;/b&gt; 만들고, 플레이하지 않고 &lt;b&gt;들어 본다.&lt;/b&gt;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926312" y="4937760"/>
            <a:ext cx="8412480" cy="7360919"/>
          </a:xfrm>
          <a:prstGeom prst="roundRect">
            <a:avLst>
              <a:gd name="adj" fmla="val 1490"/>
            </a:avLst>
          </a:prstGeom>
          <a:solidFill>
            <a:srgbClr val="F5F5F5"/>
          </a:solidFill>
          <a:ln w="2032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600">
                <a:solidFill>
                  <a:srgbClr val="6A6A6A"/>
                </a:solidFill>
                <a:latin typeface="Pretendard Bold"/>
                <a:ea typeface="Pretendard Bold"/>
                <a:cs typeface="Pretendard Bold"/>
              </a:rPr>
              <a:t>스크린샷 — 채보 타임라인 + ▶ 미리듣기 무대</a:t>
            </a:r>
          </a:p>
          <a:p>
            <a:pPr algn="ctr">
              <a:lnSpc>
                <a:spcPct val="115000"/>
              </a:lnSpc>
              <a:spcBef>
                <a:spcPts val="700"/>
              </a:spcBef>
            </a:pPr>
            <a:r>
              <a:rPr b="0" sz="2100">
                <a:solidFill>
                  <a:srgbClr val="999999"/>
                </a:solidFill>
                <a:latin typeface="Pretendard Light"/>
                <a:ea typeface="Pretendard Light"/>
                <a:cs typeface="Pretendard Light"/>
              </a:rPr>
              <a:t>가능하면 영상 5초 (재생 줄이 흐르고 원이 다가오는 장면)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4937760"/>
            <a:ext cx="11375136" cy="2331720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6" y="5303520"/>
            <a:ext cx="106436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0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타임라인 — 클릭해서 찍는다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6" y="5870448"/>
            <a:ext cx="10643616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클릭 = 추가, 드래그 = 이동, 우클릭 = 삭제. 스냅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1 · ½ · ¼박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예비동작은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왼쪽으로 뻗는 막대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언제부터 보이는지가 읽힌다.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7543800"/>
            <a:ext cx="11375136" cy="2606040"/>
          </a:xfrm>
          <a:prstGeom prst="roundRect">
            <a:avLst>
              <a:gd name="adj" fmla="val 456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4016" y="7909560"/>
            <a:ext cx="1064361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0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▶ 미리듣기 — 플레이 없이 돌린다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4016" y="8476488"/>
            <a:ext cx="10643616" cy="1307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EditorApplication.update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에디터 시간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을 굴려 원 · 판정 띠 · 타격음을 재생한다.</a:t>
            </a:r>
          </a:p>
          <a:p>
            <a:pPr algn="l">
              <a:lnSpc>
                <a:spcPct val="128000"/>
              </a:lnSpc>
              <a:spcAft>
                <a:spcPts val="599"/>
              </a:spcAft>
            </a:pP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판정 폭은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`PlayerStatsConfigSO`의 실제 값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을 읽는다 — 제 숫자를 들면 채보가 게임에서 어긋난다.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48256" y="10424160"/>
            <a:ext cx="11375136" cy="1874519"/>
          </a:xfrm>
          <a:prstGeom prst="roundRect">
            <a:avLst>
              <a:gd name="adj" fmla="val 6341"/>
            </a:avLst>
          </a:prstGeom>
          <a:solidFill>
            <a:srgbClr val="EC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10424160"/>
            <a:ext cx="155448" cy="1874519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25496" y="10625328"/>
            <a:ext cx="9820656" cy="14721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54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확인에 드는 시간: </a:t>
            </a:r>
            <a:r>
              <a:rPr b="0" sz="2754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2~3분 → 2초</a:t>
            </a:r>
          </a:p>
          <a:p>
            <a:pPr algn="l">
              <a:lnSpc>
                <a:spcPct val="122000"/>
              </a:lnSpc>
              <a:spcBef>
                <a:spcPts val="950"/>
              </a:spcBef>
            </a:pPr>
            <a:r>
              <a:rPr b="0" sz="218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없을 때는 찍기 → 플레이 → 퍼즐 클리어 → 보스전 도달까지 가야 한 번 들었다. 채보 튜닝은 </a:t>
            </a:r>
            <a:r>
              <a:rPr b="0" sz="218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수십 번 반복하는 일</a:t>
            </a:r>
            <a:r>
              <a:rPr b="0" sz="218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12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현지화 — 원천은 한 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원천을 한 곳으로 묶으면, 성능 최적화까지 정확해진다.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6544056" cy="4343400"/>
          </a:xfrm>
          <a:prstGeom prst="roundRect">
            <a:avLst>
              <a:gd name="adj" fmla="val 273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59736" y="5349240"/>
            <a:ext cx="3840480" cy="585216"/>
          </a:xfrm>
          <a:prstGeom prst="roundRect">
            <a:avLst>
              <a:gd name="adj" fmla="val 15625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6099048"/>
            <a:ext cx="57210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4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CSV 한 장이 원천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9736" y="6848856"/>
            <a:ext cx="5721096" cy="2020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99"/>
              </a:spcAft>
            </a:pPr>
            <a:r>
              <a:rPr b="0" sz="2228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구글 시트 → CSV(</a:t>
            </a:r>
            <a:r>
              <a:rPr b="0" sz="2228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139키 × 2언어</a:t>
            </a:r>
            <a:r>
              <a:rPr b="0" sz="2228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). 코드 · 씬에 문자열 하드코딩 </a:t>
            </a:r>
            <a:r>
              <a:rPr b="0" sz="2228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0</a:t>
            </a:r>
            <a:r>
              <a:rPr b="0" sz="2228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599"/>
              </a:spcAft>
            </a:pPr>
            <a:r>
              <a:rPr b="0" sz="2228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정적 문구는 </a:t>
            </a: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LocalizedText</a:t>
            </a:r>
            <a:r>
              <a:rPr b="0" sz="2228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바인더 + 키, 동적 문구(HP · 턴)는 </a:t>
            </a: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Loc.GetText(key, args)</a:t>
            </a:r>
            <a:r>
              <a:rPr b="0" sz="2228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1496" y="4937760"/>
            <a:ext cx="6544056" cy="4343400"/>
          </a:xfrm>
          <a:prstGeom prst="roundRect">
            <a:avLst>
              <a:gd name="adj" fmla="val 273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32976" y="5349240"/>
            <a:ext cx="3840480" cy="585216"/>
          </a:xfrm>
          <a:prstGeom prst="roundRect">
            <a:avLst>
              <a:gd name="adj" fmla="val 15625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함정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2976" y="6099048"/>
            <a:ext cx="57210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4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값이 아니라 키를 바꾼다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2976" y="6848856"/>
            <a:ext cx="5721096" cy="2020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34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동적 문구에 바인더를 붙이면 언어 전환 시 </a:t>
            </a:r>
            <a:r>
              <a:rPr b="0" sz="234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코드와 컴포넌트가 서로 덮어쓴다.</a:t>
            </a:r>
          </a:p>
          <a:p>
            <a:pPr algn="l">
              <a:lnSpc>
                <a:spcPct val="130000"/>
              </a:lnSpc>
              <a:spcAft>
                <a:spcPts val="631"/>
              </a:spcAft>
            </a:pPr>
            <a:r>
              <a:rPr b="0" sz="234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같은 칸을 여러 문구가 돌려 쓸 때는 값이 아니라 </a:t>
            </a:r>
            <a:r>
              <a:rPr b="0" sz="234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키를 갈아 끼운다</a:t>
            </a:r>
            <a:r>
              <a:rPr b="0" sz="234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(</a:t>
            </a:r>
            <a:r>
              <a:rPr b="0" sz="215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SetKey</a:t>
            </a:r>
            <a:r>
              <a:rPr b="0" sz="234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794736" y="4937760"/>
            <a:ext cx="6544056" cy="4343400"/>
          </a:xfrm>
          <a:prstGeom prst="roundRect">
            <a:avLst>
              <a:gd name="adj" fmla="val 2736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6206216" y="5349240"/>
            <a:ext cx="3840480" cy="585216"/>
          </a:xfrm>
          <a:prstGeom prst="roundRect">
            <a:avLst>
              <a:gd name="adj" fmla="val 15625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06216" y="6099048"/>
            <a:ext cx="57210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4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빠진 키를 찾아 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06216" y="6848856"/>
            <a:ext cx="5721096" cy="2020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69"/>
              </a:spcAft>
            </a:pPr>
            <a:r>
              <a:rPr b="0" sz="211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CSV에 없는 키</a:t>
            </a:r>
            <a:r>
              <a:rPr b="0" sz="211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를 쓰는 텍스트를 씬에서 훑어 잡는 메뉴.</a:t>
            </a:r>
          </a:p>
          <a:p>
            <a:pPr algn="l">
              <a:lnSpc>
                <a:spcPct val="130000"/>
              </a:lnSpc>
              <a:spcAft>
                <a:spcPts val="569"/>
              </a:spcAft>
            </a:pPr>
            <a:r>
              <a:rPr b="0" sz="211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원천이 한 장뿐이라 </a:t>
            </a:r>
            <a:r>
              <a:rPr b="0" sz="211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없는 글자는 게임에도 안 나온다</a:t>
            </a:r>
            <a:r>
              <a:rPr b="0" sz="211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→ 미리 구울 글자를 정확히 센다(</a:t>
            </a:r>
            <a:r>
              <a:rPr b="0" sz="211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343자</a:t>
            </a:r>
            <a:r>
              <a:rPr b="0" sz="211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48256" y="9610344"/>
            <a:ext cx="6495288" cy="2688335"/>
          </a:xfrm>
          <a:prstGeom prst="roundRect">
            <a:avLst>
              <a:gd name="adj" fmla="val 442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9884664"/>
            <a:ext cx="5946648" cy="13441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5600">
                <a:solidFill>
                  <a:srgbClr val="0073FF"/>
                </a:solidFill>
                <a:latin typeface="Pretendard ExtraBold"/>
                <a:ea typeface="Pretendard ExtraBold"/>
                <a:cs typeface="Pretendard ExtraBold"/>
              </a:rPr>
              <a:t>139키 × 2언어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2576" y="11088928"/>
            <a:ext cx="5946648" cy="10215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원천 = CSV 한 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45880" y="9610344"/>
            <a:ext cx="6495288" cy="2688335"/>
          </a:xfrm>
          <a:prstGeom prst="roundRect">
            <a:avLst>
              <a:gd name="adj" fmla="val 442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20200" y="9884664"/>
            <a:ext cx="5946648" cy="13441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5600">
                <a:solidFill>
                  <a:srgbClr val="0073FF"/>
                </a:solidFill>
                <a:latin typeface="Pretendard ExtraBold"/>
                <a:ea typeface="Pretendard ExtraBold"/>
                <a:cs typeface="Pretendard ExtraBold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0200" y="11088928"/>
            <a:ext cx="5946648" cy="10215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코드 · 씬 하드코딩 문자열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843504" y="9610344"/>
            <a:ext cx="6495288" cy="2688335"/>
          </a:xfrm>
          <a:prstGeom prst="roundRect">
            <a:avLst>
              <a:gd name="adj" fmla="val 4421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117824" y="9884664"/>
            <a:ext cx="5946648" cy="13441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5600">
                <a:solidFill>
                  <a:srgbClr val="0073FF"/>
                </a:solidFill>
                <a:latin typeface="Pretendard ExtraBold"/>
                <a:ea typeface="Pretendard ExtraBold"/>
                <a:cs typeface="Pretendard ExtraBold"/>
              </a:rPr>
              <a:t>343자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17824" y="11088928"/>
            <a:ext cx="5946648" cy="10215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시작 로딩에 미리 굽는 글자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13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보드 60,000개를 자동 검증했다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엔진 규칙에 </a:t>
            </a:r>
            <a:r>
              <a:rPr b="0" sz="2116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UnityEngine</a:t>
            </a: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이 없어서, 유니티를 켜지 않고 검사할 수 있었다.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743432" y="4937760"/>
            <a:ext cx="8595360" cy="7360919"/>
          </a:xfrm>
          <a:prstGeom prst="roundRect">
            <a:avLst>
              <a:gd name="adj" fmla="val 1490"/>
            </a:avLst>
          </a:prstGeom>
          <a:solidFill>
            <a:srgbClr val="F5F5F5"/>
          </a:solidFill>
          <a:ln w="2032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600">
                <a:solidFill>
                  <a:srgbClr val="6A6A6A"/>
                </a:solidFill>
                <a:latin typeface="Pretendard Bold"/>
                <a:ea typeface="Pretendard Bold"/>
                <a:cs typeface="Pretendard Bold"/>
              </a:rPr>
              <a:t>스크린샷 — 퍼즈 콘솔 출력</a:t>
            </a:r>
          </a:p>
          <a:p>
            <a:pPr algn="ctr">
              <a:lnSpc>
                <a:spcPct val="115000"/>
              </a:lnSpc>
              <a:spcBef>
                <a:spcPts val="700"/>
              </a:spcBef>
            </a:pPr>
            <a:r>
              <a:rPr b="0" sz="2100">
                <a:solidFill>
                  <a:srgbClr val="999999"/>
                </a:solidFill>
                <a:latin typeface="Pretendard Light"/>
                <a:ea typeface="Pretendard Light"/>
                <a:cs typeface="Pretendard Light"/>
              </a:rPr>
              <a:t>+ Test Runner 167개 전부 초록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4937760"/>
            <a:ext cx="11192256" cy="4480560"/>
          </a:xfrm>
          <a:prstGeom prst="roundRect">
            <a:avLst>
              <a:gd name="adj" fmla="val 2653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6" y="5303520"/>
            <a:ext cx="104607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상황 → 방법 →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6" y="5870448"/>
            <a:ext cx="10460736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상황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주석은 "구멍 이외의 모든 칸이 항상 채워진다"고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주장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했고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테스트 166개가 통과 중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이었다. 그런데 실제로는 벽 밑에 빈 칸이 남았다.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방법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엔진 규칙이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순수 C#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이라 콘솔 프로젝트에 소스를 그대로 물려 컴파일된다. 무작위 보드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60,000개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를 돌려 반례를 모았다(테스트도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`dotnet test` 0.3초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완주).</a:t>
            </a:r>
          </a:p>
          <a:p>
            <a:pPr algn="l">
              <a:lnSpc>
                <a:spcPct val="128000"/>
              </a:lnSpc>
              <a:spcAft>
                <a:spcPts val="631"/>
              </a:spcAft>
            </a:pP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결과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이번 버그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3개를 전부 퍼즈가 잡았다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(무한 루프 · 널 참조 · 빈 칸). 손으로 짠 테스트 166개는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하나도 못 잡았다.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9692640"/>
            <a:ext cx="11192256" cy="2606039"/>
          </a:xfrm>
          <a:prstGeom prst="roundRect">
            <a:avLst>
              <a:gd name="adj" fmla="val 4561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48256" y="9692640"/>
            <a:ext cx="155448" cy="2606039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9776" y="9875520"/>
            <a:ext cx="9729216" cy="2240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000">
                <a:solidFill>
                  <a:srgbClr val="7AB8FF"/>
                </a:solidFill>
                <a:latin typeface="Pretendard Bold"/>
                <a:ea typeface="Pretendard Bold"/>
                <a:cs typeface="Pretendard Bold"/>
              </a:rPr>
              <a:t>불변식은 주장이지 보장이 아니다.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b="0" sz="2400">
                <a:solidFill>
                  <a:srgbClr val="C9C9C9"/>
                </a:solidFill>
                <a:latin typeface="Pretendard Bold"/>
                <a:ea typeface="Pretendard Bold"/>
                <a:cs typeface="Pretendard Bold"/>
              </a:rPr>
              <a:t>손으로 짠 예제는 «내가 생각한 판»만 검사한다. 생각하지 못한 판은 기계가 찾아야 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14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트러블슈팅 대표 3건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재발하는 버그는 주의가 아니라 코드로 막는다.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6495288" cy="7360919"/>
          </a:xfrm>
          <a:prstGeom prst="roundRect">
            <a:avLst>
              <a:gd name="adj" fmla="val 183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59736" y="5349240"/>
            <a:ext cx="3840480" cy="585216"/>
          </a:xfrm>
          <a:prstGeom prst="roundRect">
            <a:avLst>
              <a:gd name="adj" fmla="val 15625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① 확률의 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6099048"/>
            <a:ext cx="56723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4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보스 타일이 보드를 도배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9736" y="6848856"/>
            <a:ext cx="5672328" cy="5038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난입 확률이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리필 타일 하나하나에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굴려지고 있었다. 한 웨이브에 10칸이 채워지면 주사위를 10번 던진다.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"5%"가 실제로는 `1 − 0.95¹⁰ ≈ 40%`였다.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→ 보드 위 동시 상한 +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웨이브 단위 누적 카운터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바꿨다.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확률은 "무엇 당(per)"인지 반드시 같이 적는다.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5880" y="4937760"/>
            <a:ext cx="6495288" cy="7360919"/>
          </a:xfrm>
          <a:prstGeom prst="roundRect">
            <a:avLst>
              <a:gd name="adj" fmla="val 183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57360" y="5349240"/>
            <a:ext cx="3840480" cy="585216"/>
          </a:xfrm>
          <a:prstGeom prst="roundRect">
            <a:avLst>
              <a:gd name="adj" fmla="val 15625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② 모델은 맞고 뷰가 틀림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60" y="6099048"/>
            <a:ext cx="56723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4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타일이 옆 열을 가로질렀다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7360" y="6848856"/>
            <a:ext cx="5672328" cy="5038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한 웨이브에서 두 번 움직인 타일(낙하 → 벽에서 대각 슬라이드)의 기록을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`From → To` 하나로 합쳐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뷰에 넘긴다 — 중간 좌표가 남으면 뷰가 칸을 잘못 추적하기 때문이다.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그런데 뷰가 그 두 점을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직선으로 이어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타일이 벽을 뚫고 대각선으로 날았다.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→ 뷰가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꺾인 경로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재생하되, 속도가 꺾이는 지점에서 0이 되지 않게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경로 전체 길이를 하나의 자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843504" y="4937760"/>
            <a:ext cx="6495288" cy="7360919"/>
          </a:xfrm>
          <a:prstGeom prst="roundRect">
            <a:avLst>
              <a:gd name="adj" fmla="val 183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6254984" y="5349240"/>
            <a:ext cx="3840480" cy="585216"/>
          </a:xfrm>
          <a:prstGeom prst="roundRect">
            <a:avLst>
              <a:gd name="adj" fmla="val 15625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2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③ 3번 재발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54984" y="6099048"/>
            <a:ext cx="56723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40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게이지가 안 줄어든다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54984" y="6848856"/>
            <a:ext cx="5672328" cy="5038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Image.type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Filled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가 아니면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fillAmount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가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아무 일도 안 한다.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UI 스프라이트를 꽂을 때 Unity가 9슬라이스를 감지해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Sliced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되돌려 놓고 있었다.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→ </a:t>
            </a:r>
            <a:r>
              <a:rPr b="0" sz="2208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Awake</a:t>
            </a:r>
            <a:r>
              <a:rPr b="0" sz="24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에서 게이지 3종의 타입을 강제한다. </a:t>
            </a:r>
            <a:r>
              <a:rPr b="0" sz="24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세 번 재발했다는 것은 「주의」로는 안 된다는 뜻이었다.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15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최적화 &amp; 런타임 안정성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최적화가 오히려 화면의 글자를 날린 사고 — 에디터에서는 멀쩡했다.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20290536" cy="2359152"/>
          </a:xfrm>
          <a:prstGeom prst="roundRect">
            <a:avLst>
              <a:gd name="adj" fmla="val 5038"/>
            </a:avLst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4937760"/>
            <a:ext cx="155448" cy="2359152"/>
          </a:xfrm>
          <a:prstGeom prst="rect">
            <a:avLst/>
          </a:prstGeom>
          <a:solidFill>
            <a:srgbClr val="D13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1216" y="5120640"/>
            <a:ext cx="18644616" cy="1993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글자를 미리 굽게 했더니, 실기에서 일부가 안 보였다</a:t>
            </a:r>
          </a:p>
          <a:p>
            <a:pPr algn="l">
              <a:lnSpc>
                <a:spcPct val="122000"/>
              </a:lnSpc>
              <a:spcBef>
                <a:spcPts val="556"/>
              </a:spcBef>
            </a:pP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런타임 끊김을 없애려고 시작 로딩에서 폰트 글자를 </a:t>
            </a: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한 번에 구웠다.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그런데 아틀라스가 </a:t>
            </a: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1024 한 장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이라 386자가 </a:t>
            </a: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두 장째로 넘어갔고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, 넘친 글자가 기기에서 안 그려졌다.</a:t>
            </a:r>
          </a:p>
          <a:p>
            <a:pPr algn="l">
              <a:lnSpc>
                <a:spcPct val="122000"/>
              </a:lnSpc>
              <a:spcBef>
                <a:spcPts val="346"/>
              </a:spcBef>
            </a:pP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그전에는 </a:t>
            </a: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화면에 실제로 뜬 글자만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조금씩 구워져 우연히 한 장에 들어 있었다 — </a:t>
            </a: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미리 굽는 행위 자체가 방아쇠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였다. → 아틀라스 </a:t>
            </a: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2048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로, 그리고 </a:t>
            </a:r>
            <a:r>
              <a:rPr b="0" sz="2100">
                <a:solidFill>
                  <a:srgbClr val="D1362B"/>
                </a:solidFill>
                <a:latin typeface="Pretendard Bold"/>
                <a:ea typeface="Pretendard Bold"/>
                <a:cs typeface="Pretendard Bold"/>
              </a:rPr>
              <a:t>두 장을 넘으면 에러 로그</a:t>
            </a:r>
            <a:r>
              <a:rPr b="0" sz="21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를 남긴다.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8256" y="7552944"/>
            <a:ext cx="20290536" cy="676656"/>
          </a:xfrm>
          <a:prstGeom prst="roundRect">
            <a:avLst>
              <a:gd name="adj" fmla="val 12162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7552944"/>
            <a:ext cx="372343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항목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9012" y="7552944"/>
            <a:ext cx="488289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조치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6308" y="7552944"/>
            <a:ext cx="8941003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이유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48256" y="8339327"/>
            <a:ext cx="20290536" cy="594359"/>
          </a:xfrm>
          <a:prstGeom prst="roundRect">
            <a:avLst>
              <a:gd name="adj" fmla="val 1384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51176" y="8394192"/>
            <a:ext cx="3723436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BGM 6곡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9012" y="8394192"/>
            <a:ext cx="4882896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Streaming / Vorbis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6308" y="8394192"/>
            <a:ext cx="8941003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원본 PCM 20MB × 6이 통째로 빌드에 들어가던 것 차단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48256" y="9043415"/>
            <a:ext cx="20290536" cy="594359"/>
          </a:xfrm>
          <a:prstGeom prst="roundRect">
            <a:avLst>
              <a:gd name="adj" fmla="val 13846"/>
            </a:avLst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51176" y="9098280"/>
            <a:ext cx="3723436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단발 효과음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9012" y="9098280"/>
            <a:ext cx="4882896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DecompressOnLoad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6308" y="9098280"/>
            <a:ext cx="8941003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스트리밍하면 </a:t>
            </a:r>
            <a:r>
              <a:rPr b="0" sz="245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눌린 뒤에</a:t>
            </a:r>
            <a:r>
              <a:rPr b="0" sz="24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소리가 난다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48256" y="9747503"/>
            <a:ext cx="20290536" cy="594359"/>
          </a:xfrm>
          <a:prstGeom prst="roundRect">
            <a:avLst>
              <a:gd name="adj" fmla="val 1384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51176" y="9802367"/>
            <a:ext cx="3723436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도트 스프라이트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89012" y="9802367"/>
            <a:ext cx="4882896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Point · 무압축 · 밉맵 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86308" y="9802367"/>
            <a:ext cx="8941003" cy="4846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이중선형 필터로 옆 타일보다 흐려 보이는 것 방지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48256" y="10597895"/>
            <a:ext cx="20290536" cy="1700784"/>
          </a:xfrm>
          <a:prstGeom prst="roundRect">
            <a:avLst>
              <a:gd name="adj" fmla="val 6989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10762487"/>
            <a:ext cx="18736056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2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1인 개발에 특히 필요했던 안정성</a:t>
            </a:r>
          </a:p>
          <a:p>
            <a:pPr algn="l">
              <a:lnSpc>
                <a:spcPct val="122000"/>
              </a:lnSpc>
              <a:spcBef>
                <a:spcPts val="540"/>
              </a:spcBef>
            </a:pP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널 세이프 슬롯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(클립 · 그림이 비어도 안 멈춘다)  · 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도메인 리로드 OFF 대응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b="0" sz="2100">
                <a:solidFill>
                  <a:srgbClr val="004CB3"/>
                </a:solidFill>
                <a:latin typeface="Consolas"/>
                <a:ea typeface="Consolas"/>
                <a:cs typeface="Consolas"/>
              </a:rPr>
              <a:t>ResetStatics()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 ·  세이브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v1→v3</a:t>
            </a:r>
            <a:r>
              <a:rPr b="0" sz="2165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마이그레이션  ·  정적 서비스 19종 · </a:t>
            </a:r>
            <a:r>
              <a:rPr b="0" sz="2165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`DontDestroyOnLoad` 2개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16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Future Work: 정직하게 남은 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 TextBox 9"/>
          <p:cNvSpPr txBox="1"/>
          <p:nvPr/>
        </p:nvSpPr>
        <p:spPr>
          <a:xfrm>
            <a:off x="2377440" y="3675887"/>
            <a:ext cx="19659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2300">
                <a:solidFill>
                  <a:srgbClr val="212121"/>
                </a:solidFill>
                <a:latin typeface="Pretendard Light"/>
                <a:ea typeface="Pretendard Light"/>
                <a:cs typeface="Pretendard Light"/>
              </a:rPr>
              <a:t>시스템은 완성했고, 콘텐츠와 검증이 남았다.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4507992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8256" y="4937760"/>
            <a:ext cx="20290536" cy="713232"/>
          </a:xfrm>
          <a:prstGeom prst="roundRect">
            <a:avLst>
              <a:gd name="adj" fmla="val 11538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4937760"/>
            <a:ext cx="546262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8201" y="4937760"/>
            <a:ext cx="1299911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4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상태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8256" y="5760720"/>
            <a:ext cx="20290536" cy="843534"/>
          </a:xfrm>
          <a:prstGeom prst="roundRect">
            <a:avLst>
              <a:gd name="adj" fmla="val 975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5815584"/>
            <a:ext cx="5462625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튜토리얼 2종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8201" y="5815584"/>
            <a:ext cx="12999110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설계 · 구현 완료 — 검증 · 영상 녹화 전이라 </a:t>
            </a:r>
            <a:r>
              <a:rPr b="0" sz="265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현재 비활성화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48256" y="6713982"/>
            <a:ext cx="20290536" cy="843534"/>
          </a:xfrm>
          <a:prstGeom prst="roundRect">
            <a:avLst>
              <a:gd name="adj" fmla="val 9756"/>
            </a:avLst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1176" y="6768846"/>
            <a:ext cx="5462625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효과음 3종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01" y="6768846"/>
            <a:ext cx="12999110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슬롯 배선 완료, 클립 선정만 남음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48256" y="7667244"/>
            <a:ext cx="20290536" cy="843534"/>
          </a:xfrm>
          <a:prstGeom prst="roundRect">
            <a:avLst>
              <a:gd name="adj" fmla="val 975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51176" y="7722108"/>
            <a:ext cx="5462625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잡몹 밸런스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8201" y="7722108"/>
            <a:ext cx="12999110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시스템 완료, 수치 입력 전 (공용값으로 동작 중)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48256" y="8620506"/>
            <a:ext cx="20290536" cy="843534"/>
          </a:xfrm>
          <a:prstGeom prst="roundRect">
            <a:avLst>
              <a:gd name="adj" fmla="val 9756"/>
            </a:avLst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1176" y="8675370"/>
            <a:ext cx="5462625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콘텐츠 볼륨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8201" y="8675370"/>
            <a:ext cx="12999110" cy="733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5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월드 2개(6판). 시스템은 확장 대비 완료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48256" y="9738360"/>
            <a:ext cx="20290536" cy="1554480"/>
          </a:xfrm>
          <a:prstGeom prst="roundRect">
            <a:avLst>
              <a:gd name="adj" fmla="val 7647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25496" y="9884664"/>
            <a:ext cx="18736056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616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남은 것이 적은 이유</a:t>
            </a:r>
          </a:p>
          <a:p>
            <a:pPr algn="l">
              <a:lnSpc>
                <a:spcPct val="122000"/>
              </a:lnSpc>
              <a:spcBef>
                <a:spcPts val="631"/>
              </a:spcBef>
            </a:pPr>
            <a:r>
              <a:rPr b="0" sz="225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전부 </a:t>
            </a:r>
            <a:r>
              <a:rPr b="0" sz="225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데이터를 채우는 일</a:t>
            </a:r>
            <a:r>
              <a:rPr b="0" sz="225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이고 코드를 고칠 일이 아니다. 스테이지 · 캐릭터 · 언어 · 기믹 어느 쪽으로 늘려도 </a:t>
            </a:r>
            <a:r>
              <a:rPr b="0" sz="2256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에셋 1개 또는 상속 1개</a:t>
            </a:r>
            <a:r>
              <a:rPr b="0" sz="2256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로 붙는다.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48256" y="11530584"/>
            <a:ext cx="20290536" cy="768095"/>
          </a:xfrm>
          <a:prstGeom prst="roundRect">
            <a:avLst>
              <a:gd name="adj" fmla="val 15476"/>
            </a:avLst>
          </a:prstGeom>
          <a:solidFill>
            <a:srgbClr val="EC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48256" y="11530584"/>
            <a:ext cx="155448" cy="768095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11731752"/>
            <a:ext cx="18736056" cy="3657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튜토리얼이 꺼져 있다는 사실을 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먼저</a:t>
            </a:r>
            <a:r>
              <a:rPr b="0" sz="21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 말한다 — 데모 중에 들통나는 것보다 낫다.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1591056"/>
            <a:ext cx="22969728" cy="1145743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rotWithShape="0">
              <a:srgbClr val="00000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676656"/>
            <a:ext cx="22969728" cy="850392"/>
          </a:xfrm>
          <a:prstGeom prst="roundRect">
            <a:avLst>
              <a:gd name="adj" fmla="val 12903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2456" y="859536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55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ChainRiposte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0" y="91440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20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2026-08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35024" y="12454128"/>
            <a:ext cx="21268944" cy="0"/>
          </a:xfrm>
          <a:prstGeom prst="line">
            <a:avLst/>
          </a:prstGeom>
          <a:ln w="13970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39360" y="12573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b="0" sz="1850">
                <a:solidFill>
                  <a:srgbClr val="1D1D1D"/>
                </a:solidFill>
                <a:latin typeface="Pretendard Bold"/>
                <a:ea typeface="Pretendard Bold"/>
                <a:cs typeface="Pretendard Bold"/>
              </a:rPr>
              <a:t>17</a:t>
            </a:r>
          </a:p>
        </p:txBody>
      </p:sp>
      <p:sp>
        <p:nvSpPr>
          <p:cNvPr id="8" name="FREE TextBox 7"/>
          <p:cNvSpPr txBox="1"/>
          <p:nvPr/>
        </p:nvSpPr>
        <p:spPr>
          <a:xfrm>
            <a:off x="3849624" y="1883664"/>
            <a:ext cx="16687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b="0" sz="675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회고: 가장 크게 배운 것 3가지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16736" y="3328416"/>
            <a:ext cx="21753576" cy="0"/>
          </a:xfrm>
          <a:prstGeom prst="line">
            <a:avLst/>
          </a:prstGeom>
          <a:ln w="15875">
            <a:solidFill>
              <a:srgbClr val="3F3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48256" y="3785615"/>
            <a:ext cx="20290536" cy="2331720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51176" y="4585716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8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6" y="4059935"/>
            <a:ext cx="18095976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9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같은 숫자를 두 곳에 적으면 반드시 어긋난다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4663440"/>
            <a:ext cx="1809597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패링 판정과 그것을 그리는 띠 · 채보 미리듣기와 실제 전투 · 튜토리얼의 밝은 칸과 누를 수 있는 칸 — 전부 같은 원인이었다. </a:t>
            </a:r>
            <a:r>
              <a:rPr b="0" sz="25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한 곳에서 파생시키면 어긋날 수가 없다.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48256" y="6355079"/>
            <a:ext cx="20290536" cy="2331720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51176" y="7155179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8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6629399"/>
            <a:ext cx="18095976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9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불변식은 주장이지 보장이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7232903"/>
            <a:ext cx="1809597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"모든 칸이 항상 채워진다"는 주석과 통과 중인 테스트 166개가 오히려 안심시켰다. 규칙이 복잡해질수록 </a:t>
            </a:r>
            <a:r>
              <a:rPr b="0" sz="25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사람이 짠 예제는 자기가 생각한 판만 검사한다</a:t>
            </a: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 — 생각하지 못한 판은 기계(퍼즈)가 찾아야 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48256" y="8924544"/>
            <a:ext cx="20290536" cy="2331720"/>
          </a:xfrm>
          <a:prstGeom prst="roundRect">
            <a:avLst>
              <a:gd name="adj" fmla="val 5098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51176" y="9724644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lnSpc>
                <a:spcPct val="115000"/>
              </a:lnSpc>
            </a:pPr>
            <a:r>
              <a:rPr b="0" sz="28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7016" y="9198864"/>
            <a:ext cx="18095976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2797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기획 의도를 코드가 배신하는 지점을 찾는 것이 진짜 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9802367"/>
            <a:ext cx="1809597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잡몹 위협을 </a:t>
            </a:r>
            <a:r>
              <a:rPr b="0" sz="25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턴</a:t>
            </a: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으로 세었더니 가만히 있는 것이 최적해가 됐다 → 실시간으로 변경.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소울을 </a:t>
            </a:r>
            <a:r>
              <a:rPr b="0" sz="2500">
                <a:solidFill>
                  <a:srgbClr val="004CB3"/>
                </a:solidFill>
                <a:latin typeface="Pretendard Bold"/>
                <a:ea typeface="Pretendard Bold"/>
                <a:cs typeface="Pretendard Bold"/>
              </a:rPr>
              <a:t>클리어한 판에서 0</a:t>
            </a:r>
            <a:r>
              <a:rPr b="0" sz="2500">
                <a:solidFill>
                  <a:srgbClr val="212121"/>
                </a:solidFill>
                <a:latin typeface="Pretendard Bold"/>
                <a:ea typeface="Pretendard Bold"/>
                <a:cs typeface="Pretendard Bold"/>
              </a:rPr>
              <a:t>으로 했더니 빨리 깬 사람이 손해를 봤다 → 스테이지별 매장량으로.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48256" y="11494007"/>
            <a:ext cx="20290536" cy="804672"/>
          </a:xfrm>
          <a:prstGeom prst="roundRect">
            <a:avLst>
              <a:gd name="adj" fmla="val 14772"/>
            </a:avLst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48256" y="11494007"/>
            <a:ext cx="155448" cy="804672"/>
          </a:xfrm>
          <a:prstGeom prst="rect">
            <a:avLst/>
          </a:prstGeom>
          <a:solidFill>
            <a:srgbClr val="00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71216" y="11494007"/>
            <a:ext cx="1864461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b="0" sz="35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돌아가게 만드는 것과 </a:t>
            </a:r>
            <a:r>
              <a:rPr b="0" sz="3500">
                <a:solidFill>
                  <a:srgbClr val="7AB8FF"/>
                </a:solidFill>
                <a:latin typeface="Pretendard Bold"/>
                <a:ea typeface="Pretendard Bold"/>
                <a:cs typeface="Pretendard Bold"/>
              </a:rPr>
              <a:t>「의도대로 돌아가게」</a:t>
            </a:r>
            <a:r>
              <a:rPr b="0" sz="35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만드는 것은 다른 일이었다.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