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24384000" cy="13716000"/>
  <p:notesSz cx="6858000" cy="9144000"/>
  <p:embeddedFontLst>
    <p:embeddedFont>
      <p:font typeface="Pretendard Light"/>
      <p:regular r:id="rId30"/>
    </p:embeddedFont>
    <p:embeddedFont>
      <p:font typeface="Pretendard Bold"/>
      <p:bold r:id="rId31"/>
    </p:embeddedFont>
    <p:embeddedFont>
      <p:font typeface="Pretendard ExtraBold"/>
      <p:bold r:id="rId32"/>
    </p:embeddedFont>
    <p:embeddedFont>
      <p:font typeface="Pretendard SemiBold"/>
      <p:bold r:id="rId33"/>
    </p:embeddedFont>
    <p:embeddedFont>
      <p:font typeface="LINE Seed JP_TTF Bold"/>
      <p:bold r:id="rId34"/>
    </p:embeddedFont>
    <p:embeddedFont>
      <p:font typeface="Noto Sans JP Medium"/>
      <p:bold r:id="rId35"/>
    </p:embeddedFont>
    <p:embeddedFont>
      <p:font typeface="Noto Sans JP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1.fntdata" Type="http://schemas.openxmlformats.org/officeDocument/2006/relationships/font"/><Relationship Id="rId31" Target="fonts/font2.fntdata" Type="http://schemas.openxmlformats.org/officeDocument/2006/relationships/font"/><Relationship Id="rId32" Target="fonts/font3.fntdata" Type="http://schemas.openxmlformats.org/officeDocument/2006/relationships/font"/><Relationship Id="rId33" Target="fonts/font4.fntdata" Type="http://schemas.openxmlformats.org/officeDocument/2006/relationships/font"/><Relationship Id="rId34" Target="fonts/font5.fntdata" Type="http://schemas.openxmlformats.org/officeDocument/2006/relationships/font"/><Relationship Id="rId35" Target="fonts/font6.fntdata" Type="http://schemas.openxmlformats.org/officeDocument/2006/relationships/font"/><Relationship Id="rId36" Target="fonts/font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62.png" Type="http://schemas.openxmlformats.org/officeDocument/2006/relationships/image"/><Relationship Id="rId18" Target="../media/image63.png" Type="http://schemas.openxmlformats.org/officeDocument/2006/relationships/image"/><Relationship Id="rId19" Target="../media/image64.png" Type="http://schemas.openxmlformats.org/officeDocument/2006/relationships/image"/><Relationship Id="rId2" Target="../media/image8.png" Type="http://schemas.openxmlformats.org/officeDocument/2006/relationships/image"/><Relationship Id="rId20" Target="../media/image65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Relationship Id="rId8" Target="../media/image6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14" Target="../media/image79.png" Type="http://schemas.openxmlformats.org/officeDocument/2006/relationships/image"/><Relationship Id="rId15" Target="../media/image80.png" Type="http://schemas.openxmlformats.org/officeDocument/2006/relationships/image"/><Relationship Id="rId16" Target="../media/image81.png" Type="http://schemas.openxmlformats.org/officeDocument/2006/relationships/image"/><Relationship Id="rId17" Target="../media/image82.png" Type="http://schemas.openxmlformats.org/officeDocument/2006/relationships/image"/><Relationship Id="rId18" Target="../media/image83.png" Type="http://schemas.openxmlformats.org/officeDocument/2006/relationships/image"/><Relationship Id="rId19" Target="../media/image84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95.png" Type="http://schemas.openxmlformats.org/officeDocument/2006/relationships/image"/><Relationship Id="rId7" Target="../media/image96.png" Type="http://schemas.openxmlformats.org/officeDocument/2006/relationships/image"/><Relationship Id="rId8" Target="../media/image97.pn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06.png" Type="http://schemas.openxmlformats.org/officeDocument/2006/relationships/image"/><Relationship Id="rId7" Target="../media/image107.png" Type="http://schemas.openxmlformats.org/officeDocument/2006/relationships/image"/><Relationship Id="rId8" Target="../media/image10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11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D1D1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90700" y="673100"/>
            <a:ext cx="21882100" cy="12369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552700" y="1270000"/>
            <a:ext cx="185547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285200" y="1016000"/>
            <a:ext cx="1612900" cy="55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0" y="10718800"/>
            <a:ext cx="202819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1442700" y="11734800"/>
            <a:ext cx="15113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0" y="3759200"/>
            <a:ext cx="609600" cy="609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295900" y="4597400"/>
            <a:ext cx="14922500" cy="199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025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ChainRiposte: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5900" y="6388100"/>
            <a:ext cx="14922500" cy="199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025" b="false" i="false" u="none" strike="noStrike" spc="-400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고쳐도 안 무너지는 구조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01100" y="1104900"/>
            <a:ext cx="11811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5700" y="11226800"/>
            <a:ext cx="89027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79" b="false" i="false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38400" y="11823700"/>
            <a:ext cx="8890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867" b="false" i="false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GitHub: github.com/chainriposte | Email: dev@chainriposte.com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42900" y="11226800"/>
            <a:ext cx="89027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79" b="false" i="false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PERSONAL INFO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55600" y="11823700"/>
            <a:ext cx="8890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867" b="false" i="false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Unity 6 · C# · 아키텍처 설계 · 테스트 주도 개발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04300" y="1981200"/>
            <a:ext cx="74803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000000">
                    <a:alpha val="54902"/>
                  </a:srgbClr>
                </a:solidFill>
                <a:latin typeface="Pretendard Light"/>
                <a:ea typeface="Pretendard Light"/>
                <a:cs typeface="Pretendard Light"/>
              </a:rPr>
              <a:t>신입 게임 클라이언트 프로그래머 포트폴리오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8500" y="673100"/>
            <a:ext cx="1016000" cy="12369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5400000">
            <a:off x="-4013200" y="2870200"/>
            <a:ext cx="48006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389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Portfolio</a:t>
            </a:r>
          </a:p>
        </p:txBody>
      </p:sp>
      <p:sp>
        <p:nvSpPr>
          <p:cNvPr name="TextBox 18" id="18"/>
          <p:cNvSpPr txBox="true"/>
          <p:nvPr/>
        </p:nvSpPr>
        <p:spPr>
          <a:xfrm rot="5400000">
            <a:off x="-2895600" y="11430000"/>
            <a:ext cx="2565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판의 흐름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59000" y="7683500"/>
            <a:ext cx="5918200" cy="407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59000" y="6451600"/>
            <a:ext cx="5918200" cy="774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32900" y="6451600"/>
            <a:ext cx="5918200" cy="774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94100" y="6451600"/>
            <a:ext cx="5918200" cy="77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232900" y="7683500"/>
            <a:ext cx="5918200" cy="4076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306800" y="7683500"/>
            <a:ext cx="5918200" cy="4076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425700" y="3949700"/>
            <a:ext cx="53975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70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퍼즐 → 보스전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5200" y="4991100"/>
            <a:ext cx="57912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93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퍼즐에서 소울을 캐서 레벨업하고</a:t>
            </a:r>
          </a:p>
          <a:p>
            <a:pPr algn="ctr" lvl="0">
              <a:lnSpc>
                <a:spcPct val="120350"/>
              </a:lnSpc>
            </a:pPr>
            <a:r>
              <a:rPr lang="en-US" sz="293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보스전에 가져갈 HP를 지킨다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11500" y="6553200"/>
            <a:ext cx="4013200" cy="508000"/>
          </a:xfrm>
          <a:prstGeom prst="rect">
            <a:avLst/>
          </a:prstGeom>
        </p:spPr>
        <p:txBody>
          <a:bodyPr anchor="ctr" rtlCol="false" lIns="0" tIns="33867" rIns="0" bIns="33867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준비 구간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9600" y="3949700"/>
            <a:ext cx="53975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70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패링 리듬 액션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6400" y="4991100"/>
            <a:ext cx="57912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93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보스전에서 패링으로 공격을 피하고</a:t>
            </a:r>
          </a:p>
          <a:p>
            <a:pPr algn="ctr" lvl="0">
              <a:lnSpc>
                <a:spcPct val="120350"/>
              </a:lnSpc>
            </a:pPr>
            <a:r>
              <a:rPr lang="en-US" sz="293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반격해 클리어한다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85400" y="6553200"/>
            <a:ext cx="4013200" cy="508000"/>
          </a:xfrm>
          <a:prstGeom prst="rect">
            <a:avLst/>
          </a:prstGeom>
        </p:spPr>
        <p:txBody>
          <a:bodyPr anchor="ctr" rtlCol="false" lIns="0" tIns="33867" rIns="0" bIns="33867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실력 구간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60800" y="3949700"/>
            <a:ext cx="53975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70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성장과 재시작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70300" y="4991100"/>
            <a:ext cx="57912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93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클리어 후 다음 스테이지 진행</a:t>
            </a:r>
          </a:p>
          <a:p>
            <a:pPr algn="ctr" lvl="0">
              <a:lnSpc>
                <a:spcPct val="120350"/>
              </a:lnSpc>
            </a:pPr>
            <a:r>
              <a:rPr lang="en-US" sz="293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또는 성장은 남기고 재시작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46600" y="6553200"/>
            <a:ext cx="4013200" cy="508000"/>
          </a:xfrm>
          <a:prstGeom prst="rect">
            <a:avLst/>
          </a:prstGeom>
        </p:spPr>
        <p:txBody>
          <a:bodyPr anchor="ctr" rtlCol="false" lIns="0" tIns="33867" rIns="0" bIns="33867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 판 연결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설계 원칙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난이도는 실행(패링)에서 오고, 성장은 모서리만 깎는다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44700" y="4991100"/>
            <a:ext cx="20294600" cy="1549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30900" y="5384800"/>
            <a:ext cx="4114800" cy="762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44700" y="6769100"/>
            <a:ext cx="20294600" cy="1549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930900" y="7162800"/>
            <a:ext cx="4114800" cy="762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44700" y="8547100"/>
            <a:ext cx="20294600" cy="1549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930900" y="8940800"/>
            <a:ext cx="4114800" cy="762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44700" y="10325100"/>
            <a:ext cx="20294600" cy="154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930900" y="10718800"/>
            <a:ext cx="4114800" cy="762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578100" y="5461000"/>
            <a:ext cx="3365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09300" y="5486400"/>
            <a:ext cx="113665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959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성장이 난이도를 완전히 제거하거나 전혀 도움이 안 되면 퍼즐이 무의미해진다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84900" y="5499100"/>
            <a:ext cx="3594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성장과 난이도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78100" y="7239000"/>
            <a:ext cx="3365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09300" y="7264400"/>
            <a:ext cx="11366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이 한 줄이 모든 밸런스 수치의 기준이 되었다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84900" y="7277100"/>
            <a:ext cx="3594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밸런스 기준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78100" y="9004300"/>
            <a:ext cx="3365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09300" y="9029700"/>
            <a:ext cx="11366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패링 판정은 손맛이고, 레벨업은 그 판정 폭을 조금씩 넓혀 준다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84900" y="9055100"/>
            <a:ext cx="3594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약속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78100" y="10782300"/>
            <a:ext cx="3365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09300" y="10807700"/>
            <a:ext cx="11366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난이도는 플레이어의 실행 능력에서 나오며, 성장은 보조 수단이다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84900" y="10833100"/>
            <a:ext cx="3594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실행 중심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기술 스택과 규모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87600" y="4292600"/>
            <a:ext cx="19621500" cy="7239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997200" y="5067300"/>
            <a:ext cx="8788400" cy="6985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l" lvl="0">
              <a:lnSpc>
                <a:spcPct val="99600"/>
              </a:lnSpc>
            </a:pPr>
            <a:r>
              <a:rPr lang="en-US" sz="3733" b="tru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엔진과 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4000" y="5067300"/>
            <a:ext cx="8801100" cy="6985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l" lvl="0">
              <a:lnSpc>
                <a:spcPct val="99600"/>
              </a:lnSpc>
            </a:pPr>
            <a:r>
              <a:rPr lang="en-US" sz="3733" b="tru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코드 규모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7200" y="5867400"/>
            <a:ext cx="87630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89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Unity 6000.3.7f1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89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URP 17.3.0 · New Input System · TextMeshPro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4000" y="5867400"/>
            <a:ext cx="55118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C# 170개 파일 / 25,546줄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Core 59개 / 5,025줄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7200" y="8750300"/>
            <a:ext cx="8788400" cy="6985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l" lvl="0">
              <a:lnSpc>
                <a:spcPct val="99600"/>
              </a:lnSpc>
            </a:pPr>
            <a:r>
              <a:rPr lang="en-US" sz="3733" b="tru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테스트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54000" y="8788400"/>
            <a:ext cx="8801100" cy="698500"/>
          </a:xfrm>
          <a:prstGeom prst="rect">
            <a:avLst/>
          </a:prstGeom>
        </p:spPr>
        <p:txBody>
          <a:bodyPr anchor="b" rtlCol="false" lIns="0" tIns="0" rIns="0" bIns="47413"/>
          <a:lstStyle/>
          <a:p>
            <a:pPr algn="l" lvl="0">
              <a:lnSpc>
                <a:spcPct val="99600"/>
              </a:lnSpc>
            </a:pPr>
            <a:r>
              <a:rPr lang="en-US" sz="3733" b="tru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도구와 문서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97200" y="9550400"/>
            <a:ext cx="87630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Unity Test Framework 1.6.0 + NUnit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순수 C# 테스트 167개 전부 통과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66700" y="9588500"/>
            <a:ext cx="87630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Assembly Definition 4개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커스텀 에디터 메뉴 34종 · Git 157 커밋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5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4계층 의존 구조와 noEngineReferences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14600" y="4305300"/>
            <a:ext cx="9156700" cy="7531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40000" y="3873500"/>
            <a:ext cx="3543300" cy="90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12700" y="4305300"/>
            <a:ext cx="9156700" cy="7531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3873500"/>
            <a:ext cx="3543300" cy="901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068300" y="3962400"/>
            <a:ext cx="29464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866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컴파일러 강제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47700" y="5295900"/>
            <a:ext cx="805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Core.Tests (18개 / 3,137줄)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47700" y="5943600"/>
            <a:ext cx="80518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EditMode 167개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에디터 없이 순수 C#으로 실행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47700" y="7366000"/>
            <a:ext cx="805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빌드 에러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47700" y="8013700"/>
            <a:ext cx="80518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Core가 UnityEngine을 참조하려 하면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빌드 에러가 난다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47700" y="9436100"/>
            <a:ext cx="805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테스트 속도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47700" y="10083800"/>
            <a:ext cx="80518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테스트 167개가 에디터 없이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3초에 돈다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2900" y="3962400"/>
            <a:ext cx="29464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866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계층 구조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2300" y="5295900"/>
            <a:ext cx="805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Editor (19개 / 4,920줄)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2300" y="5943600"/>
            <a:ext cx="80518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채보·보드·현지화 툴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62300" y="7366000"/>
            <a:ext cx="805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Game (74개 / 12,464줄)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62300" y="8013700"/>
            <a:ext cx="80518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MonoBehaviour · UI · VFX · Audio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62300" y="9436100"/>
            <a:ext cx="805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Core (59개 / 5,025줄)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62300" y="10083800"/>
            <a:ext cx="80518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noEngineReferences: true</a:t>
            </a:r>
          </a:p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43" b="false" i="false" u="none" strike="noStrike">
                <a:solidFill>
                  <a:srgbClr val="7D7D7D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퍼즐·전투·진행도·밸런스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데이터 흐름과 경계 규칙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경계를 넘는 규칙 3가지로 Unity 타입과 순수 로직을 깔끔하게 분리한다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5684500" y="1828800"/>
            <a:ext cx="3276600" cy="963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422900" y="5397500"/>
            <a:ext cx="3276600" cy="963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5684500" y="5397500"/>
            <a:ext cx="3276600" cy="963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422900" y="1828800"/>
            <a:ext cx="3276600" cy="9639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794000" y="54229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규칙 1: 밸런스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94000" y="6337300"/>
            <a:ext cx="85852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밸런스 수치는 전부 ScriptableObject에 있다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코드에 상수로 박힌 밸런스가 없다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5600" y="54229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규칙 2: 타입 감싸기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2900" y="6337300"/>
            <a:ext cx="85852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Unity 타입은 Func&lt;&gt;로 감싼다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AnimationCurve → Func&lt;float, float&gt;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Core가 Unity를 몰라도 된다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94000" y="89916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규칙 3: 이벤트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94000" y="9906000"/>
            <a:ext cx="85852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Core는 이벤트로만 말한다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25종 C# event로 Game이 반응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Core가 Game을 참조하지 않는다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55600" y="89916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데이터 흐름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42900" y="9906000"/>
            <a:ext cx="85852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ScriptableObject → ToConfig() → Core Config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Core System → Game 어댑터 → UI/VFX/SFX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7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디자인 패턴 10종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63100" y="6667500"/>
            <a:ext cx="12954000" cy="63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20300" y="5092700"/>
            <a:ext cx="863600" cy="939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0" y="9753600"/>
            <a:ext cx="8382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58400" y="7378700"/>
            <a:ext cx="787400" cy="787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63100" y="8915400"/>
            <a:ext cx="129540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79600" y="4533900"/>
            <a:ext cx="7150100" cy="6756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1506200" y="5537200"/>
            <a:ext cx="111252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7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Strategy+Composite, Adapter, Observer, Composition Root, Memento로 문제를 해결했다.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06200" y="4889500"/>
            <a:ext cx="11125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주요 패턴 5가지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06200" y="7785100"/>
            <a:ext cx="11125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7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Unity 타입과 순수 로직 분리, 단방향 의존 유지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06200" y="7150100"/>
            <a:ext cx="11125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경계를 지키는 설계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6200" y="10045700"/>
            <a:ext cx="11125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7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문제가 먼저 있었고 그 해법이 패턴이었다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06200" y="9410700"/>
            <a:ext cx="11125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실전에서 나온 패턴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8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채보 기반·결정적 시뮬레이션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48100" y="3949700"/>
            <a:ext cx="56007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48100" y="8051800"/>
            <a:ext cx="5600700" cy="3708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47900" y="3949700"/>
            <a:ext cx="13944600" cy="3708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47900" y="8051800"/>
            <a:ext cx="13944600" cy="3708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743200" y="5283200"/>
            <a:ext cx="13093700" cy="1422400"/>
          </a:xfrm>
          <a:prstGeom prst="rect">
            <a:avLst/>
          </a:prstGeom>
        </p:spPr>
        <p:txBody>
          <a:bodyPr anchor="t" rtlCol="false" lIns="0" tIns="8467" rIns="0" bIns="0"/>
          <a:lstStyle/>
          <a:p>
            <a:pPr algn="l" lvl="0">
              <a:lnSpc>
                <a:spcPct val="112050"/>
              </a:lnSpc>
            </a:pPr>
            <a:r>
              <a:rPr lang="en-US" sz="26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보스 공격을 박 단위 노트로 찍는다. 타격 시점·예비동작 길이·피해 배율을 노트로 정의하고, 연속기는 노트를 촘촘히 찍어 구현한다. HP 구간별 채보 풀과 가중 무작위로 같은 보스도 체력에 따라 험해진다.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83000" y="4406900"/>
            <a:ext cx="12192000" cy="6985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채보(악보) 기반 전투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43200" y="9385300"/>
            <a:ext cx="13093700" cy="1422400"/>
          </a:xfrm>
          <a:prstGeom prst="rect">
            <a:avLst/>
          </a:prstGeom>
        </p:spPr>
        <p:txBody>
          <a:bodyPr anchor="t" rtlCol="false" lIns="0" tIns="8467" rIns="0" bIns="0"/>
          <a:lstStyle/>
          <a:p>
            <a:pPr algn="l" lvl="0">
              <a:lnSpc>
                <a:spcPct val="112050"/>
              </a:lnSpc>
            </a:pPr>
            <a:r>
              <a:rPr lang="en-US" sz="26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프레임 단위로 흘리지 않고 다음 상태 경계(타격 시점·윈도우 만료)까지만 진행한다. 시간 경계에서 제자리걸음을 방지하는 최소 스텝(TimeEpsilon = 1e-4f)을 둔다. 결과: 프레임레이트와 무관하게 같은 입력이면 같은 결과가 나온다.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83000" y="8509000"/>
            <a:ext cx="12192000" cy="6985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결정적(deterministic) 시뮬레이션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30500" y="4406900"/>
            <a:ext cx="698500" cy="698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832100" y="4457700"/>
            <a:ext cx="508000" cy="5969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30500" y="8509000"/>
            <a:ext cx="698500" cy="698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832100" y="8559800"/>
            <a:ext cx="508000" cy="5969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'보이는 것 = 판정' — 패링 띠 설계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눈에 보이는 것과 판정이 어긋나는 것은 리듬 게임에서 가장 치명적인 결함이다.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5130800"/>
            <a:ext cx="21005800" cy="190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557500" y="5702300"/>
            <a:ext cx="5664200" cy="603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5702300"/>
            <a:ext cx="5664200" cy="603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6344900" y="6438900"/>
            <a:ext cx="4102100" cy="622300"/>
          </a:xfrm>
          <a:prstGeom prst="rect">
            <a:avLst/>
          </a:prstGeom>
        </p:spPr>
        <p:txBody>
          <a:bodyPr anchor="t" rtlCol="false" lIns="0" tIns="38100" rIns="0" bIns="0"/>
          <a:lstStyle/>
          <a:p>
            <a:pPr algn="l" lvl="0">
              <a:lnSpc>
                <a:spcPct val="101259"/>
              </a:lnSpc>
            </a:pPr>
            <a:r>
              <a:rPr lang="en-US" sz="3333" b="false" i="false" u="none" strike="noStrike">
                <a:solidFill>
                  <a:srgbClr val="777777">
                    <a:alpha val="80000"/>
                  </a:srgbClr>
                </a:solidFill>
                <a:latin typeface="Pretendard Light"/>
                <a:ea typeface="Pretendard Light"/>
                <a:cs typeface="Pretendard Light"/>
              </a:rPr>
              <a:t>Step 3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57600" y="7226300"/>
            <a:ext cx="3962400" cy="127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82200" y="7226300"/>
            <a:ext cx="3962400" cy="127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3606800" y="6438900"/>
            <a:ext cx="4102100" cy="622300"/>
          </a:xfrm>
          <a:prstGeom prst="rect">
            <a:avLst/>
          </a:prstGeom>
        </p:spPr>
        <p:txBody>
          <a:bodyPr anchor="t" rtlCol="false" lIns="0" tIns="38100" rIns="0" bIns="0"/>
          <a:lstStyle/>
          <a:p>
            <a:pPr algn="l" lvl="0">
              <a:lnSpc>
                <a:spcPct val="101259"/>
              </a:lnSpc>
            </a:pPr>
            <a:r>
              <a:rPr lang="en-US" sz="3333" b="false" i="false" u="none" strike="noStrike">
                <a:solidFill>
                  <a:srgbClr val="777777">
                    <a:alpha val="80000"/>
                  </a:srgbClr>
                </a:solidFill>
                <a:latin typeface="Pretendard Light"/>
                <a:ea typeface="Pretendard Light"/>
                <a:cs typeface="Pretendard Light"/>
              </a:rPr>
              <a:t>Step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30600" y="9220200"/>
            <a:ext cx="4432300" cy="571500"/>
          </a:xfrm>
          <a:prstGeom prst="rect">
            <a:avLst/>
          </a:prstGeom>
        </p:spPr>
        <p:txBody>
          <a:bodyPr anchor="t" rtlCol="false" lIns="0" tIns="35052" rIns="0" bIns="0"/>
          <a:lstStyle/>
          <a:p>
            <a:pPr algn="l" lvl="0">
              <a:lnSpc>
                <a:spcPct val="101259"/>
              </a:lnSpc>
            </a:pPr>
            <a:r>
              <a:rPr lang="en-US" sz="3066" b="false" i="false" u="none" strike="noStrike">
                <a:solidFill>
                  <a:srgbClr val="000000">
                    <a:alpha val="80000"/>
                  </a:srgbClr>
                </a:solidFill>
                <a:highlight>
                  <a:srgbClr val="FFF4CF"/>
                </a:highlight>
                <a:latin typeface="Pretendard Bold"/>
                <a:ea typeface="Pretendard Bold"/>
                <a:cs typeface="Pretendard Bold"/>
              </a:rPr>
              <a:t>효과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32200" y="10147300"/>
            <a:ext cx="4318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1178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212121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보이는 겹침 = 판정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194800" y="5702300"/>
            <a:ext cx="5664200" cy="60325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9867900" y="9220200"/>
            <a:ext cx="4432300" cy="571500"/>
          </a:xfrm>
          <a:prstGeom prst="rect">
            <a:avLst/>
          </a:prstGeom>
        </p:spPr>
        <p:txBody>
          <a:bodyPr anchor="t" rtlCol="false" lIns="0" tIns="35052" rIns="0" bIns="0"/>
          <a:lstStyle/>
          <a:p>
            <a:pPr algn="l" lvl="0">
              <a:lnSpc>
                <a:spcPct val="101259"/>
              </a:lnSpc>
            </a:pPr>
            <a:r>
              <a:rPr lang="en-US" sz="3066" b="false" i="false" u="none" strike="noStrike">
                <a:solidFill>
                  <a:srgbClr val="000000">
                    <a:alpha val="80000"/>
                  </a:srgbClr>
                </a:solidFill>
                <a:highlight>
                  <a:srgbClr val="FFF4CF"/>
                </a:highlight>
                <a:latin typeface="Pretendard Bold"/>
                <a:ea typeface="Pretendard Bold"/>
                <a:cs typeface="Pretendard Bold"/>
              </a:rPr>
              <a:t>해결 방법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69500" y="10147300"/>
            <a:ext cx="4318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1178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212121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판정값에서 그림 역산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69500" y="6438900"/>
            <a:ext cx="4102100" cy="622300"/>
          </a:xfrm>
          <a:prstGeom prst="rect">
            <a:avLst/>
          </a:prstGeom>
        </p:spPr>
        <p:txBody>
          <a:bodyPr anchor="t" rtlCol="false" lIns="0" tIns="38100" rIns="0" bIns="0"/>
          <a:lstStyle/>
          <a:p>
            <a:pPr algn="l" lvl="0">
              <a:lnSpc>
                <a:spcPct val="101259"/>
              </a:lnSpc>
            </a:pPr>
            <a:r>
              <a:rPr lang="en-US" sz="3333" b="false" i="false" u="none" strike="noStrike">
                <a:solidFill>
                  <a:srgbClr val="777777">
                    <a:alpha val="80000"/>
                  </a:srgbClr>
                </a:solidFill>
                <a:latin typeface="Pretendard Light"/>
                <a:ea typeface="Pretendard Light"/>
                <a:cs typeface="Pretendard Light"/>
              </a:rPr>
              <a:t>Step 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92500" y="9220200"/>
            <a:ext cx="4432300" cy="571500"/>
          </a:xfrm>
          <a:prstGeom prst="rect">
            <a:avLst/>
          </a:prstGeom>
        </p:spPr>
        <p:txBody>
          <a:bodyPr anchor="t" rtlCol="false" lIns="0" tIns="35052" rIns="0" bIns="0"/>
          <a:lstStyle/>
          <a:p>
            <a:pPr algn="l" lvl="0">
              <a:lnSpc>
                <a:spcPct val="101259"/>
              </a:lnSpc>
            </a:pPr>
            <a:r>
              <a:rPr lang="en-US" sz="3066" b="false" i="false" u="none" strike="noStrike">
                <a:solidFill>
                  <a:srgbClr val="000000">
                    <a:alpha val="80000"/>
                  </a:srgbClr>
                </a:solidFill>
                <a:highlight>
                  <a:srgbClr val="FFF4CF"/>
                </a:highlight>
                <a:latin typeface="Pretendard Bold"/>
                <a:ea typeface="Pretendard Bold"/>
                <a:cs typeface="Pretendard Bold"/>
              </a:rPr>
              <a:t>발견한 문제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94100" y="10147300"/>
            <a:ext cx="4318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1178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212121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원 두께만큼 판정 밖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06800" y="7226300"/>
            <a:ext cx="3962400" cy="127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13800" y="6286500"/>
            <a:ext cx="812800" cy="1104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062200" y="6070600"/>
            <a:ext cx="1155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86000" y="6388100"/>
            <a:ext cx="9779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10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비정형 보드·갇힌 칸 메우기·데드락 리롤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4724400"/>
            <a:ext cx="6731000" cy="6819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095500" y="5067300"/>
            <a:ext cx="6121400" cy="6134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97100" y="4267200"/>
            <a:ext cx="5905500" cy="939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463800" y="-2717800"/>
            <a:ext cx="5384800" cy="1490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47900" y="5549900"/>
            <a:ext cx="5791200" cy="3314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540000" y="4470400"/>
            <a:ext cx="52197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비정형 보드와 낙하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3300" y="9474200"/>
            <a:ext cx="58547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FFFFFF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구멍 뚫린 보드 지원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39200" y="4724400"/>
            <a:ext cx="6731000" cy="6819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819400" y="5067300"/>
            <a:ext cx="18770600" cy="6134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45600" y="4267200"/>
            <a:ext cx="5905500" cy="939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977900" y="-2717800"/>
            <a:ext cx="22453600" cy="1490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296400" y="5549900"/>
            <a:ext cx="5791200" cy="3314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9588500" y="4470400"/>
            <a:ext cx="52197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갇힌 칸 메우기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1800" y="9474200"/>
            <a:ext cx="58547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FFFFFF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갇힌 칸을 구멍 경로로 메움</a:t>
            </a:r>
          </a:p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FFFFFF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99.08% 성공률, 나머지는 제자리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87700" y="4724400"/>
            <a:ext cx="6731000" cy="68199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-4229100" y="5067300"/>
            <a:ext cx="46964600" cy="6134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294100" y="4267200"/>
            <a:ext cx="5905500" cy="9398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-6070600" y="-2717800"/>
            <a:ext cx="50647600" cy="1490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344900" y="5549900"/>
            <a:ext cx="5791200" cy="3314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6637000" y="4470400"/>
            <a:ext cx="52197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데드락 검출 + 리롤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370300" y="9283700"/>
            <a:ext cx="5854700" cy="1333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32" b="false" i="false" u="none" strike="noStrike" spc="-100">
                <a:solidFill>
                  <a:srgbClr val="FFFFFF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둘 수 있는 수가 없으면 게임이 멈춘다. MoveFinder로 검출 후 턴 미소모 리롤로 대응한다. 보이는 빈칸은 의도한 구멍뿐이라는 불변식을 지킨다.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커스텀 메뉴 34종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15500" y="9385300"/>
            <a:ext cx="12471400" cy="2260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15500" y="6718300"/>
            <a:ext cx="12471400" cy="2260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15500" y="4064000"/>
            <a:ext cx="12471400" cy="2260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97100" y="4064000"/>
            <a:ext cx="7581900" cy="7581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1671300" y="4546600"/>
            <a:ext cx="10096500" cy="6985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채보 에디터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71300" y="5270500"/>
            <a:ext cx="10071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노트 찍기·스냅·미리듣기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71300" y="7200900"/>
            <a:ext cx="10096500" cy="6985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보드 그리드 에디터 + 현지화 툴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71300" y="7924800"/>
            <a:ext cx="10071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격자 에디터·CSV 동기화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71300" y="9842500"/>
            <a:ext cx="10096500" cy="6985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지도 노드 편집 + 아트 정규화 + 디버그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71300" y="10566400"/>
            <a:ext cx="10071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레이아웃 저장·스프라이트 트리밍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왜 절반을 지웠는가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지키라고 문서에 적어야 하는 도구라면, 도구가 잘못된 것이다.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 rot="0">
            <a:off x="12446000" y="6172200"/>
            <a:ext cx="9906000" cy="560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0983850">
            <a:off x="12738100" y="5956300"/>
            <a:ext cx="15113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 rot="0">
            <a:off x="2032000" y="6172200"/>
            <a:ext cx="9906000" cy="5600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0983850">
            <a:off x="2324100" y="5956300"/>
            <a:ext cx="1511300" cy="736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721100" y="8128000"/>
            <a:ext cx="7645400" cy="965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21100" y="9245600"/>
            <a:ext cx="7645400" cy="965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721100" y="10375900"/>
            <a:ext cx="7645400" cy="965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22400" y="8128000"/>
            <a:ext cx="7645400" cy="965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122400" y="9245600"/>
            <a:ext cx="7645400" cy="965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122400" y="10375900"/>
            <a:ext cx="7645400" cy="96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949700" y="8255000"/>
            <a:ext cx="723900" cy="660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949700" y="9385300"/>
            <a:ext cx="723900" cy="660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949700" y="10515600"/>
            <a:ext cx="723900" cy="660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351000" y="8255000"/>
            <a:ext cx="723900" cy="660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351000" y="9385300"/>
            <a:ext cx="723900" cy="660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351000" y="10515600"/>
            <a:ext cx="723900" cy="660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980416">
            <a:off x="21005800" y="5219700"/>
            <a:ext cx="1168400" cy="14732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4064000" y="6578600"/>
            <a:ext cx="75184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에디터 절반을 의도적으로 삭제했다 (8,737 → 4,920줄)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41600" y="5994400"/>
            <a:ext cx="838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300">
                <a:solidFill>
                  <a:srgbClr val="B4B4B4"/>
                </a:solidFill>
                <a:latin typeface="Pretendard Light"/>
                <a:ea typeface="Pretendard Light"/>
                <a:cs typeface="Pretendard Light"/>
              </a:rPr>
              <a:t>Q1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49700" y="83312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51400" y="8318500"/>
            <a:ext cx="6350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한때 에디터가 전체 코드의 30%였다.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49700" y="94488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851400" y="9448800"/>
            <a:ext cx="6350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UI 빌더 코드였음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49700" y="105791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51400" y="10579100"/>
            <a:ext cx="636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이미 끝난 위험한 코드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16100" y="6578600"/>
            <a:ext cx="744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그 빌더들의 문제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55600" y="5994400"/>
            <a:ext cx="838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300">
                <a:solidFill>
                  <a:srgbClr val="B4B4B4"/>
                </a:solidFill>
                <a:latin typeface="Pretendard Light"/>
                <a:ea typeface="Pretendard Light"/>
                <a:cs typeface="Pretendard Light"/>
              </a:rPr>
              <a:t>Q2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63700" y="83312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265400" y="8318500"/>
            <a:ext cx="6350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'비파괴'는 거짓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63700" y="94488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252700" y="9448800"/>
            <a:ext cx="636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캔버스 내용 통째로 삭제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63700" y="105791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52700" y="10579100"/>
            <a:ext cx="636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UI 배선 손실 경험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13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ScriptableObject 10종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99700" y="4622800"/>
            <a:ext cx="11772900" cy="199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99700" y="7035800"/>
            <a:ext cx="11772900" cy="1993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782300" y="7480300"/>
            <a:ext cx="7493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4035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76100" y="4800600"/>
            <a:ext cx="8699500" cy="6223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ScriptableObject 타입 10종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500" y="5410200"/>
            <a:ext cx="9525000" cy="1816100"/>
          </a:xfrm>
          <a:prstGeom prst="rect">
            <a:avLst/>
          </a:prstGeom>
        </p:spPr>
        <p:txBody>
          <a:bodyPr anchor="t" rtlCol="false" lIns="0" tIns="25984" rIns="0" bIns="0"/>
          <a:lstStyle/>
          <a:p>
            <a:pPr algn="l" lvl="0">
              <a:lnSpc>
                <a:spcPct val="103749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StageDataSO · BossDataSO · TileDefinitionSO · PlayerStatsConfigSO · DifficultyCurveSO · RunEconomyConfigSO · BossMemorySO · PlayerCharacterSO · ThemeSO · TutorialTopicSO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82300" y="5118100"/>
            <a:ext cx="7493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4035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90400" y="7213600"/>
            <a:ext cx="8699500" cy="6223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코드에 고유명사가 없다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0400" y="7823200"/>
            <a:ext cx="9525000" cy="1384300"/>
          </a:xfrm>
          <a:prstGeom prst="rect">
            <a:avLst/>
          </a:prstGeom>
        </p:spPr>
        <p:txBody>
          <a:bodyPr anchor="t" rtlCol="false" lIns="0" tIns="25984" rIns="0" bIns="0"/>
          <a:lstStyle/>
          <a:p>
            <a:pPr algn="l" lvl="0">
              <a:lnSpc>
                <a:spcPct val="103749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스테이지 이름 하드코딩 대신 StageDataSO.introduces[] 데이터로 처리. 보스 페이즈 수는 StageDataSO.battlePhaseLimit로 판이 결정. 난이도는 DifficultyCurve가 자동 계산.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99700" y="9385300"/>
            <a:ext cx="11772900" cy="19939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782300" y="9867900"/>
            <a:ext cx="7493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4035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24100" y="4241800"/>
            <a:ext cx="7429500" cy="76581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001500" y="9563100"/>
            <a:ext cx="8699500" cy="622300"/>
          </a:xfrm>
          <a:prstGeom prst="rect">
            <a:avLst/>
          </a:prstGeom>
        </p:spPr>
        <p:txBody>
          <a:bodyPr anchor="t" rtlCol="false" lIns="0" tIns="21167" rIns="0" bIns="0"/>
          <a:lstStyle/>
          <a:p>
            <a:pPr algn="l" lvl="0">
              <a:lnSpc>
                <a:spcPct val="1078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확장이 쉬운 이유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26900" y="10172700"/>
            <a:ext cx="9525000" cy="952500"/>
          </a:xfrm>
          <a:prstGeom prst="rect">
            <a:avLst/>
          </a:prstGeom>
        </p:spPr>
        <p:txBody>
          <a:bodyPr anchor="t" rtlCol="false" lIns="0" tIns="26229" rIns="0" bIns="0"/>
          <a:lstStyle/>
          <a:p>
            <a:pPr algn="l" lvl="0">
              <a:lnSpc>
                <a:spcPct val="103749"/>
              </a:lnSpc>
            </a:pPr>
            <a:r>
              <a:rPr lang="en-US" sz="275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스테이지 추가 = 에셋 1개 (난이도 자동). 캐릭터 추가 = 에셋 1개 (코드·씬 무수정). 기믹 추가 = StageGimmick 상속 1개 (엔진 무수정).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14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현지화 (i18n)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1200" y="3949700"/>
            <a:ext cx="5930900" cy="3594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917700" y="7874000"/>
            <a:ext cx="60579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현지화 구조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1200" y="8483600"/>
            <a:ext cx="6032500" cy="299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7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원천은 구글 시트 → CSV 한 장.</a:t>
            </a:r>
          </a:p>
          <a:p>
            <a:pPr algn="l" lvl="0">
              <a:lnSpc>
                <a:spcPct val="116199"/>
              </a:lnSpc>
            </a:pPr>
            <a:r>
              <a:rPr lang="en-US" sz="277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정적 문구 = LocalizedText 바인더 컴포넌트 + 키.</a:t>
            </a:r>
          </a:p>
          <a:p>
            <a:pPr algn="l" lvl="0">
              <a:lnSpc>
                <a:spcPct val="116199"/>
              </a:lnSpc>
            </a:pPr>
            <a:r>
              <a:rPr lang="en-US" sz="277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동적 문구(HP·턴) = Loc.GetText(key, args) + LanguageChanged 구독해 재렌더.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69400" y="7874000"/>
            <a:ext cx="60579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함정과 규칙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32900" y="8483600"/>
            <a:ext cx="6032500" cy="327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4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동적 문구에 LocalizedText를 붙이면 언어 전환 시 덮어쓴다. 값이 아니라 키를 갈아 끼운다.</a:t>
            </a:r>
          </a:p>
          <a:p>
            <a:pPr algn="l" lvl="0">
              <a:lnSpc>
                <a:spcPct val="116199"/>
              </a:lnSpc>
            </a:pPr>
            <a:r>
              <a:rPr lang="en-US" sz="2604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한글 폰트는 동적 아틀라스 — 쓰는 글자만 생성.</a:t>
            </a:r>
          </a:p>
          <a:p>
            <a:pPr algn="l" lvl="0">
              <a:lnSpc>
                <a:spcPct val="116199"/>
              </a:lnSpc>
            </a:pPr>
            <a:r>
              <a:rPr lang="en-US" sz="2604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툴: Find Missing Keys In Scene — CSV에 없는 키를 찾아낸다.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08400" y="7874000"/>
            <a:ext cx="60579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언어 추가 비용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71900" y="8496300"/>
            <a:ext cx="60325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CSV에 열 1개만 추가하면 된다.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코드·씬에 문자열 하드코딩은 0이므로 새 언어 추가 시 수정할 곳이 없다.</a:t>
            </a:r>
          </a:p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모든 UI는 키로 바인딩되어 있어 즉시 반영된다.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925300" y="7810500"/>
            <a:ext cx="77851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673600" y="7810500"/>
            <a:ext cx="77851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32900" y="3949700"/>
            <a:ext cx="5930900" cy="3594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471900" y="3949700"/>
            <a:ext cx="5930900" cy="359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빌드 용량과 실기 프레임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오디오·폰트·스프라이트별 최적화 전략으로 빌드와 런타임 모두 개선했다.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 rot="0">
            <a:off x="12446000" y="6172200"/>
            <a:ext cx="9906000" cy="560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0983850">
            <a:off x="12738100" y="5956300"/>
            <a:ext cx="15113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 rot="0">
            <a:off x="2032000" y="6172200"/>
            <a:ext cx="9906000" cy="5600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0983850">
            <a:off x="2324100" y="5956300"/>
            <a:ext cx="1511300" cy="736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21100" y="8128000"/>
            <a:ext cx="7645400" cy="965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721100" y="9245600"/>
            <a:ext cx="7645400" cy="965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21100" y="10375900"/>
            <a:ext cx="7645400" cy="965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122400" y="8128000"/>
            <a:ext cx="7645400" cy="965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22400" y="9245600"/>
            <a:ext cx="7645400" cy="965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122400" y="10375900"/>
            <a:ext cx="7645400" cy="96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949700" y="8255000"/>
            <a:ext cx="723900" cy="660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949700" y="9385300"/>
            <a:ext cx="723900" cy="660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949700" y="10515600"/>
            <a:ext cx="723900" cy="660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51000" y="8255000"/>
            <a:ext cx="723900" cy="660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351000" y="9385300"/>
            <a:ext cx="723900" cy="660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351000" y="10515600"/>
            <a:ext cx="723900" cy="660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980416">
            <a:off x="21005800" y="5219700"/>
            <a:ext cx="1168400" cy="14732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4114800" y="6578600"/>
            <a:ext cx="7429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빌드 용량 최적화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41600" y="5994400"/>
            <a:ext cx="838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300">
                <a:solidFill>
                  <a:srgbClr val="B4B4B4"/>
                </a:solidFill>
                <a:latin typeface="Pretendard Light"/>
                <a:ea typeface="Pretendard Light"/>
                <a:cs typeface="Pretendard Light"/>
              </a:rPr>
              <a:t>Q1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49700" y="83312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51400" y="8089900"/>
            <a:ext cx="63500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52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BGM 6곡: PCM WAV 125MB → Vorbis q0.7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49700" y="94488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851400" y="9461500"/>
            <a:ext cx="63500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2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단발 효과음: DecompressOnLoad 사용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49700" y="105791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51400" y="10579100"/>
            <a:ext cx="636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한글 폰트: 동적 아틀라스 + 사전 생성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16100" y="6578600"/>
            <a:ext cx="744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7D7D7D"/>
                </a:solidFill>
                <a:latin typeface="Pretendard Bold"/>
                <a:ea typeface="Pretendard Bold"/>
                <a:cs typeface="Pretendard Bold"/>
              </a:rPr>
              <a:t>실기 프레임 조치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55600" y="5994400"/>
            <a:ext cx="838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300">
                <a:solidFill>
                  <a:srgbClr val="B4B4B4"/>
                </a:solidFill>
                <a:latin typeface="Pretendard Light"/>
                <a:ea typeface="Pretendard Light"/>
                <a:cs typeface="Pretendard Light"/>
              </a:rPr>
              <a:t>Q2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63700" y="83312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265400" y="8089900"/>
            <a:ext cx="63500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52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targetFrameRate 60으로 고정 (기본값 30)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63700" y="94488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252700" y="9448800"/>
            <a:ext cx="636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3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HDR 끔: 2D 도트에 불필요한 정밀도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63700" y="10579100"/>
            <a:ext cx="71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 spc="2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03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01900" y="10337800"/>
            <a:ext cx="64770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52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도트 스프라이트: Point 필터 · 무압축 · 밉맵 끔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16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시작 로딩 설계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491200" y="4368800"/>
            <a:ext cx="4076700" cy="87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491200" y="5384800"/>
            <a:ext cx="4076700" cy="3086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9253200" y="4597400"/>
            <a:ext cx="2540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STEP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11900" y="5918200"/>
            <a:ext cx="31242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8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대개는 로딩 바가 안 보인다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73800" y="6692900"/>
            <a:ext cx="3187700" cy="72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866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로고 2.6초 안에 끝나면 바가 안 뜬다. 그게 정상이다.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678900" y="4724400"/>
            <a:ext cx="4318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25600" y="5105400"/>
            <a:ext cx="4076700" cy="876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325600" y="6134100"/>
            <a:ext cx="4076700" cy="3086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5087600" y="5346700"/>
            <a:ext cx="2540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STEP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20900" y="6667500"/>
            <a:ext cx="31623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8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사전 생성은 메모리를 더 안 쓴다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08200" y="7442200"/>
            <a:ext cx="31877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866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어차피 플레이 중에 만들어지는 것들이고 정적 캐시에 남으므로, 만들어지는 시점만 옮기는 것이다.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513300" y="5461000"/>
            <a:ext cx="4318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0" y="5854700"/>
            <a:ext cx="4076700" cy="876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0" y="6870700"/>
            <a:ext cx="4076700" cy="30861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934700" y="6096000"/>
            <a:ext cx="2540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STEP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80700" y="7404100"/>
            <a:ext cx="3136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2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구울 글자를 정확히 안다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42600" y="8178800"/>
            <a:ext cx="32004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866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Localization.csv 기준으로 구울 글자 결정. 실측 343자(한글 274자).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60400" y="6210300"/>
            <a:ext cx="431800" cy="13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94400" y="6604000"/>
            <a:ext cx="4076700" cy="876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94400" y="7620000"/>
            <a:ext cx="4076700" cy="3086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6769100" y="6832600"/>
            <a:ext cx="2540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STEP 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15100" y="8153400"/>
            <a:ext cx="31242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8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진행률은 실제 작업 단위로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77000" y="8928100"/>
            <a:ext cx="3187700" cy="1435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866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시간으로 흘리면 느린 기기에서 바가 다 찬 채로 멈춰 있게 되는데, 그건 '멈췄다'로 읽힌다. 작업 단위로 찬다.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94800" y="6946900"/>
            <a:ext cx="431800" cy="139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41500" y="7340600"/>
            <a:ext cx="4076700" cy="876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41500" y="8356600"/>
            <a:ext cx="4076700" cy="30861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2603500" y="7581900"/>
            <a:ext cx="2540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STEP 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62200" y="8890000"/>
            <a:ext cx="3136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로고와 겹쳐 돌린다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24100" y="9677400"/>
            <a:ext cx="3187700" cy="72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866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로고 2.6초 동안 뒤에서 굽고, 필요할 때만 바를 띄운다.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29200" y="7696200"/>
            <a:ext cx="4318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17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런타임 안정성과 테스트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8000" y="4216400"/>
            <a:ext cx="10274300" cy="726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4724400"/>
            <a:ext cx="9359900" cy="939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667000" y="-3149600"/>
            <a:ext cx="8496300" cy="1670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1900" y="9588500"/>
            <a:ext cx="89154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212121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널 세이프·도메인 리로드·세이브 마이그레이션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30500" y="4953000"/>
            <a:ext cx="8369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런타임 안정성 — 방어선 3개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31700" y="4216400"/>
            <a:ext cx="10274300" cy="726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88900" y="4724400"/>
            <a:ext cx="9359900" cy="939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479800" y="-3149600"/>
            <a:ext cx="27978100" cy="1670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5600" y="9588500"/>
            <a:ext cx="89154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212121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167개 순수 C# 테스트·퍼즈·회귀 테스트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84200" y="4953000"/>
            <a:ext cx="8369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테스트 전략 — 167개 순수 C# 테스트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35200" y="6019800"/>
            <a:ext cx="9359900" cy="2933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88900" y="6019800"/>
            <a:ext cx="93599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게이지가 줄어들지 않는다 — 3번 재발한 버그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세 번 재발한 버그는 주의가 아니라 코드로 막는다.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930400" y="5156200"/>
          <a:ext cx="20739100" cy="6642100"/>
        </p:xfrm>
        <a:graphic>
          <a:graphicData uri="http://schemas.openxmlformats.org/drawingml/2006/table">
            <a:tbl>
              <a:tblPr/>
              <a:tblGrid>
                <a:gridCol w="3588550"/>
                <a:gridCol w="2356674"/>
                <a:gridCol w="14730253"/>
              </a:tblGrid>
              <a:tr h="145063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00" b="false" i="false" u="none" strike="noStrike">
                          <a:solidFill>
                            <a:srgbClr val="000000"/>
                          </a:solidFill>
                          <a:latin typeface="LINE Seed JP_TTF Bold"/>
                          <a:ea typeface="LINE Seed JP_TTF Bold"/>
                          <a:cs typeface="LINE Seed JP_TTF Bold"/>
                        </a:rPr>
                        <a:t>[증상]</a:t>
                      </a:r>
                      <a:endParaRPr lang="en-US" sz="1100"/>
                    </a:p>
                  </a:txBody>
                  <a:tcPr anchor="ctr" marL="25400" marT="85343" marR="25400" marB="8534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533" b="false" i="false" u="none" strike="noStrike">
                          <a:solidFill>
                            <a:srgbClr val="212121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화면이 안 줄어든다</a:t>
                      </a:r>
                      <a:endParaRPr lang="en-US" sz="1100"/>
                    </a:p>
                  </a:txBody>
                  <a:tcPr anchor="ctr" marL="254000" marT="72855" marR="254000" marB="7285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66" b="false" i="false" u="none" strike="noStrike">
                          <a:solidFill>
                            <a:srgbClr val="21212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전투 HP/체간 게이지가 코드상 값은 바뀌는데 화면이 안 줄어든다.</a:t>
                      </a:r>
                      <a:endParaRPr lang="en-US" sz="1100"/>
                    </a:p>
                  </a:txBody>
                  <a:tcPr anchor="ctr" marL="254000" marT="67860" marR="254000" marB="67860">
                    <a:lnL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5063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00" b="false" i="false" u="none" strike="noStrike">
                          <a:solidFill>
                            <a:srgbClr val="000000"/>
                          </a:solidFill>
                          <a:latin typeface="LINE Seed JP_TTF Bold"/>
                          <a:ea typeface="LINE Seed JP_TTF Bold"/>
                          <a:cs typeface="LINE Seed JP_TTF Bold"/>
                        </a:rPr>
                        <a:t>[진짜 원인]</a:t>
                      </a:r>
                      <a:endParaRPr lang="en-US" sz="1100"/>
                    </a:p>
                  </a:txBody>
                  <a:tcPr anchor="ctr" marL="25400" marT="85343" marR="25400" marB="8534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533" b="false" i="false" u="none" strike="noStrike">
                          <a:solidFill>
                            <a:srgbClr val="212121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Image.type이 Filled가 아니면</a:t>
                      </a:r>
                      <a:endParaRPr lang="en-US" sz="1100"/>
                    </a:p>
                  </a:txBody>
                  <a:tcPr anchor="ctr" marL="254000" marT="72855" marR="254000" marB="7285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66" b="false" i="false" u="none" strike="noStrike">
                          <a:solidFill>
                            <a:srgbClr val="21212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Image.type이 'Filled'가 아니면 'fillAmount'가 아무 일도 안 한다. UI 스프라이트를 꽂을 때 Unity가 9슬라이스를 감지해 'Sliced'로 되돌려 놓고 있었다. 게다가 sprite가 null이면 Image는 언제나 칸을 꽉 채운다.</a:t>
                      </a:r>
                      <a:endParaRPr lang="en-US" sz="1100"/>
                    </a:p>
                  </a:txBody>
                  <a:tcPr anchor="ctr" marL="254000" marT="67860" marR="254000" marB="67860">
                    <a:lnL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179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00" b="false" i="false" u="none" strike="noStrike">
                          <a:solidFill>
                            <a:srgbClr val="000000"/>
                          </a:solidFill>
                          <a:latin typeface="LINE Seed JP_TTF Bold"/>
                          <a:ea typeface="LINE Seed JP_TTF Bold"/>
                          <a:cs typeface="LINE Seed JP_TTF Bold"/>
                        </a:rPr>
                        <a:t>[교훈]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3200" b="false" i="false" u="none" strike="noStrike">
                          <a:solidFill>
                            <a:srgbClr val="000000"/>
                          </a:solidFill>
                          <a:latin typeface="LINE Seed JP_TTF Bold"/>
                          <a:ea typeface="LINE Seed JP_TTF Bold"/>
                          <a:cs typeface="LINE Seed JP_TTF Bold"/>
                        </a:rPr>
                        <a:t>재발 버그는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3200" b="false" i="false" u="none" strike="noStrike">
                          <a:solidFill>
                            <a:srgbClr val="000000"/>
                          </a:solidFill>
                          <a:latin typeface="LINE Seed JP_TTF Bold"/>
                          <a:ea typeface="LINE Seed JP_TTF Bold"/>
                          <a:cs typeface="LINE Seed JP_TTF Bold"/>
                        </a:rPr>
                        <a:t>코드로 막는다</a:t>
                      </a:r>
                    </a:p>
                  </a:txBody>
                  <a:tcPr anchor="ctr" marL="25400" marT="85343" marR="25400" marB="8534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533" b="false" i="false" u="none" strike="noStrike">
                          <a:solidFill>
                            <a:srgbClr val="212121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코드로 강제한다</a:t>
                      </a:r>
                      <a:endParaRPr lang="en-US" sz="1100"/>
                    </a:p>
                  </a:txBody>
                  <a:tcPr anchor="ctr" marL="254000" marT="72855" marR="254000" marB="7285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66" b="false" i="false" u="none" strike="noStrike">
                          <a:solidFill>
                            <a:srgbClr val="21212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CombatScreen이 Awake에서 게이지 3종을 Filled/가로/왼쪽으로 강제한다.</a:t>
                      </a:r>
                      <a:endParaRPr lang="en-US" sz="1100"/>
                    </a:p>
                  </a:txBody>
                  <a:tcPr anchor="ctr" marL="254000" marT="67860" marR="254000" marB="67860">
                    <a:lnL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173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00" b="false" i="false" u="none" strike="noStrike">
                          <a:solidFill>
                            <a:srgbClr val="000000"/>
                          </a:solidFill>
                          <a:latin typeface="LINE Seed JP_TTF Bold"/>
                          <a:ea typeface="LINE Seed JP_TTF Bold"/>
                          <a:cs typeface="LINE Seed JP_TTF Bold"/>
                        </a:rPr>
                        <a:t>[조치]</a:t>
                      </a:r>
                      <a:endParaRPr lang="en-US" sz="1100"/>
                    </a:p>
                  </a:txBody>
                  <a:tcPr anchor="ctr" marL="25400" marT="85343" marR="25400" marB="8534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533" b="false" i="false" u="none" strike="noStrike">
                          <a:solidFill>
                            <a:srgbClr val="212121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스프라이트를 갈아 끼워도 안 깨진다</a:t>
                      </a:r>
                      <a:endParaRPr lang="en-US" sz="1100"/>
                    </a:p>
                  </a:txBody>
                  <a:tcPr anchor="ctr" marL="254000" marT="72855" marR="254000" marB="72855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66" b="false" i="false" u="none" strike="noStrike">
                          <a:solidFill>
                            <a:srgbClr val="21212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스프라이트를 갈아 끼워도 안 깨진다. 재발하는 버그는 주의가 아니라 코드로 막는다.</a:t>
                      </a:r>
                      <a:endParaRPr lang="en-US" sz="1100"/>
                    </a:p>
                  </a:txBody>
                  <a:tcPr anchor="ctr" marL="254000" marT="67860" marR="254000" marB="67860">
                    <a:lnL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F6F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19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벽 밑에 빈 칸이 남는다 — 불변식이 거짓이었다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70200" y="4546600"/>
            <a:ext cx="3416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조치 및 교훈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2900" y="4546600"/>
            <a:ext cx="3416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증상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44400" y="6718300"/>
            <a:ext cx="9867900" cy="4546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97100" y="6718300"/>
            <a:ext cx="9867900" cy="454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5422900"/>
            <a:ext cx="9893300" cy="1155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84400" y="5422900"/>
            <a:ext cx="9893300" cy="1155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741400" y="5740400"/>
            <a:ext cx="70739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68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갇힌 칸 메우기 알고리즘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94100" y="5740400"/>
            <a:ext cx="70739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68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벽 아래 빈 칸 발견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76200" y="7150100"/>
            <a:ext cx="90932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52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대각선 슬라이드는 정확한 출처 필요. 갇힌 칸을 '걸어 올라가게' 하는 BFS 알고리즘으로 99.08% 메움. 무작위 보드 60,000개 테스트로 반례 수집, 퍼즈 테스트 163→167개 확대.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30500" y="7150100"/>
            <a:ext cx="8890000" cy="314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52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벽 아래에 타일이 없는 칸이 남아, 판에 구멍이 뚫린 것처럼 보인다.</a:t>
            </a:r>
          </a:p>
          <a:p>
            <a:pPr algn="l" lvl="0">
              <a:lnSpc>
                <a:spcPct val="138609"/>
              </a:lnSpc>
            </a:pPr>
            <a:r>
              <a:rPr lang="en-US" sz="252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코드 주석은 '벽과 비활성 셀 이외의 모든 칸이 항상 채워진다'고 주장했다.</a:t>
            </a:r>
          </a:p>
          <a:p>
            <a:pPr algn="l" lvl="0">
              <a:lnSpc>
                <a:spcPct val="138609"/>
              </a:lnSpc>
            </a:pPr>
            <a:r>
              <a:rPr lang="en-US" sz="252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비정형 보드 퍼즈 테스트(해골·하트·해골+벽)도 통과하고 있었다.</a:t>
            </a:r>
          </a:p>
          <a:p>
            <a:pPr algn="l" lvl="0">
              <a:lnSpc>
                <a:spcPct val="138609"/>
              </a:lnSpc>
            </a:pPr>
            <a:r>
              <a:rPr lang="en-US" sz="2522" b="false" i="false" u="none" strike="noStrike" spc="-100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손으로 고른 보드에서만 참이었다. 테스트가 있다는 것이 오히려 안심시켰다.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374100" y="5880100"/>
            <a:ext cx="292100" cy="292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26800" y="58547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20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확률의 단위를 명시하라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0" y="9245600"/>
            <a:ext cx="18605500" cy="2235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41600" y="4216400"/>
            <a:ext cx="19646900" cy="448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08200" y="4673600"/>
            <a:ext cx="19875500" cy="901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238500" y="4800600"/>
            <a:ext cx="16192500" cy="622300"/>
          </a:xfrm>
          <a:prstGeom prst="rect">
            <a:avLst/>
          </a:prstGeom>
        </p:spPr>
        <p:txBody>
          <a:bodyPr anchor="t" rtlCol="false" lIns="0" tIns="38100" rIns="0" bIns="0"/>
          <a:lstStyle/>
          <a:p>
            <a:pPr algn="l" lvl="0">
              <a:lnSpc>
                <a:spcPct val="101259"/>
              </a:lnSpc>
            </a:pPr>
            <a:r>
              <a:rPr lang="en-US" sz="3333" b="false" i="false" u="none" strike="noStrike">
                <a:solidFill>
                  <a:srgbClr val="777777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5% 확률이 웨이브당 10칸 리필 시 40%로 증폭. 칸당·턴당·웨이브당 단위 혼동이 원인.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97500" y="6184900"/>
            <a:ext cx="16268700" cy="153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96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왜 이런 일이 발생했는가? 칸당·턴당·웨이브당은 전부 다른 값이고, 코드만 봐서는 구분이 안 된다.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5854700"/>
            <a:ext cx="1714500" cy="2476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524500" y="10185400"/>
            <a:ext cx="13423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동시 상한(maxLiveBossTiles)과 웨이브 누적 카운터(_pendingGrants)로 제어.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4500" y="9537700"/>
            <a:ext cx="62103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조치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41600" y="9309100"/>
            <a:ext cx="2108200" cy="2108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009900" y="9664700"/>
            <a:ext cx="13716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나머지 9건 트러블슈팅 요약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각 버그마다 인과 관계가 있고, 그 관계를 찾는 것이 진짜 일이다.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7700" y="9017000"/>
            <a:ext cx="69723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주요 버그 사례 (④~⑧)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30400" y="4978400"/>
            <a:ext cx="9372600" cy="3327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17700" y="9931400"/>
            <a:ext cx="9309100" cy="50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534900" y="9017000"/>
            <a:ext cx="69723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추가 버그 사례 (⑦~⑫)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547600" y="4978400"/>
            <a:ext cx="9372600" cy="3327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34900" y="9931400"/>
            <a:ext cx="9309100" cy="5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17700" y="10350500"/>
            <a:ext cx="10744200" cy="153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533" b="false" i="false" u="none" strike="noStrike">
                <a:solidFill>
                  <a:srgbClr val="212121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④ 보스 타일 미스폰: 특수 타일은 '놓아도 되는 자리' 따로 물어야</a:t>
            </a:r>
          </a:p>
          <a:p>
            <a:pPr algn="l" lvl="0">
              <a:lnSpc>
                <a:spcPct val="135289"/>
              </a:lnSpc>
            </a:pPr>
            <a:r>
              <a:rPr lang="en-US" sz="2533" b="false" i="false" u="none" strike="noStrike">
                <a:solidFill>
                  <a:srgbClr val="212121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⑤ 소리 미출력: AudioListener 부재 → 툴도 수정 필요</a:t>
            </a:r>
          </a:p>
          <a:p>
            <a:pPr algn="l" lvl="0">
              <a:lnSpc>
                <a:spcPct val="135289"/>
              </a:lnSpc>
            </a:pPr>
            <a:r>
              <a:rPr lang="en-US" sz="2533" b="false" i="false" u="none" strike="noStrike">
                <a:solidFill>
                  <a:srgbClr val="212121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⑥ 최적화 오류: 폰트 아틀라스 넘침 → 최적화 검증 필수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47600" y="10350500"/>
            <a:ext cx="10007600" cy="1485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5289"/>
              </a:lnSpc>
            </a:pPr>
            <a:r>
              <a:rPr lang="en-US" sz="2466" b="false" i="false" u="none" strike="noStrike">
                <a:solidFill>
                  <a:srgbClr val="212121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⑦ 대화창 버그: 값 아닌 출처(키) 전달 필요</a:t>
            </a:r>
          </a:p>
          <a:p>
            <a:pPr algn="l" lvl="0">
              <a:lnSpc>
                <a:spcPct val="135289"/>
              </a:lnSpc>
            </a:pPr>
            <a:r>
              <a:rPr lang="en-US" sz="2466" b="false" i="false" u="none" strike="noStrike">
                <a:solidFill>
                  <a:srgbClr val="212121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⑧ 타일 오류: 기록 압축 시 복원 방법 함께 제공</a:t>
            </a:r>
          </a:p>
          <a:p>
            <a:pPr algn="l" lvl="0">
              <a:lnSpc>
                <a:spcPct val="135289"/>
              </a:lnSpc>
            </a:pPr>
            <a:r>
              <a:rPr lang="en-US" sz="2466" b="false" i="false" u="none" strike="noStrike">
                <a:solidFill>
                  <a:srgbClr val="212121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⑨~⑫: 상태 구독·에디터·값 이월·스케일 오류 → 각각 파생·rawType·구분·검증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22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설계 원칙 정리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67000" y="4533900"/>
            <a:ext cx="190754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2667000" y="6819900"/>
            <a:ext cx="19075400" cy="217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2667000" y="9105900"/>
            <a:ext cx="19075400" cy="2171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619500" y="10337800"/>
            <a:ext cx="16802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86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88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잡몹 위협을 턴으로 세니 가만히 있는 것이 최적해 → 실시간 변경. 클리어 판 0으로 하니 빨리 깬 사람 손해 → 스테이지별 매장량 변경.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19500" y="9613900"/>
            <a:ext cx="1684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3: 기획 의도를 코드가 배신하는 지점을 찾는 것이 진짜 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19500" y="8051800"/>
            <a:ext cx="168148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86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패링 띠·튜토리얼 칸·지도 길 두께 등 모두 같은 원인. 한 곳에서 파생시키면 어긋날 수 없다.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9500" y="7327900"/>
            <a:ext cx="1684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2: 같은 숫자를 두 곳에 적으면 반드시 어긋난다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9500" y="5765800"/>
            <a:ext cx="168021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86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55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'Core에 Unity 금지'는 지켜지지 않는다. noEngineReferences: true로 컴파일 에러 강제 후 규칙이 진짜가 됐다. 테스트 167개가 에디터 없이 3초에 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19500" y="5054600"/>
            <a:ext cx="1684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원칙 1: 아키텍처는 강제여야 한다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23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48100" y="1879600"/>
            <a:ext cx="166751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Future Work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40200" y="4076700"/>
            <a:ext cx="5359400" cy="358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40200" y="8051800"/>
            <a:ext cx="5359400" cy="3581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84400" y="4076700"/>
            <a:ext cx="14681200" cy="3581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771900" y="5651500"/>
            <a:ext cx="12547600" cy="2387600"/>
          </a:xfrm>
          <a:prstGeom prst="rect">
            <a:avLst/>
          </a:prstGeom>
        </p:spPr>
        <p:txBody>
          <a:bodyPr anchor="t" rtlCol="false" lIns="0" tIns="8661" rIns="0" bIns="0"/>
          <a:lstStyle/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튜토리얼 (2종): 설계·구현 완료, 검증·영상 전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효과음 3종: 슬롯 배선 완료, 클립 선정만 남음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잡몹 밸런스: 시스템 완료, 수치 입력 전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안드로이드 빌드: 미검증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콘텐츠: 월드 2개(스테이지 6판), 시스템 확장 대비 완료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59200" y="4673600"/>
            <a:ext cx="12204700" cy="7366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 spc="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구현 완료 상태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06700" y="4699000"/>
            <a:ext cx="520700" cy="6985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l" lvl="0">
              <a:lnSpc>
                <a:spcPct val="107899"/>
              </a:lnSpc>
            </a:pPr>
            <a:r>
              <a:rPr lang="en-US" sz="3733" b="true" i="false" u="none" strike="noStrike" spc="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84400" y="8039100"/>
            <a:ext cx="14681200" cy="3581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771900" y="9613900"/>
            <a:ext cx="12547600" cy="1917700"/>
          </a:xfrm>
          <a:prstGeom prst="rect">
            <a:avLst/>
          </a:prstGeom>
        </p:spPr>
        <p:txBody>
          <a:bodyPr anchor="t" rtlCol="false" lIns="0" tIns="8661" rIns="0" bIns="0"/>
          <a:lstStyle/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스테이지 추가 = 에셋 1개 (난이도 자동 계산)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캐릭터 추가 = 에셋 1개 (코드·씬 무수정)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기믹 추가 = StageGimmick 상속 1개</a:t>
            </a:r>
          </a:p>
          <a:p>
            <a:pPr algn="l" lvl="0">
              <a:lnSpc>
                <a:spcPct val="112050"/>
              </a:lnSpc>
            </a:pPr>
            <a:r>
              <a:rPr lang="en-US" sz="2727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언어 추가 = CSV 열 1개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59200" y="8648700"/>
            <a:ext cx="12204700" cy="7366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 spc="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확장이 쉬운 이유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06700" y="8661400"/>
            <a:ext cx="533400" cy="6985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l" lvl="0">
              <a:lnSpc>
                <a:spcPct val="107899"/>
              </a:lnSpc>
            </a:pPr>
            <a:r>
              <a:rPr lang="en-US" sz="3733" b="true" i="false" u="none" strike="noStrike" spc="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BEB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1587500"/>
            <a:ext cx="229743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673100"/>
            <a:ext cx="22974300" cy="85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28800" y="723900"/>
            <a:ext cx="207391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900" y="876300"/>
            <a:ext cx="2806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 spc="1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ChainRiposte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85100" y="927100"/>
            <a:ext cx="26162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14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2026-08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12496800"/>
            <a:ext cx="212725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424900" y="12319000"/>
            <a:ext cx="1651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866" b="false" i="false" u="none" strike="noStrike" cap="all">
                <a:solidFill>
                  <a:srgbClr val="1D1D1D"/>
                </a:solidFill>
                <a:latin typeface="Pretendard Bold"/>
                <a:ea typeface="Pretendard Bold"/>
                <a:cs typeface="Pretendard Bold"/>
              </a:rPr>
              <a:t>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8100" y="1879600"/>
            <a:ext cx="16687800" cy="1231900"/>
          </a:xfrm>
          <a:prstGeom prst="rect">
            <a:avLst/>
          </a:prstGeom>
        </p:spPr>
        <p:txBody>
          <a:bodyPr anchor="ctr" rtlCol="false" lIns="0" tIns="89972" rIns="0" bIns="89972"/>
          <a:lstStyle/>
          <a:p>
            <a:pPr algn="ctr" lvl="0">
              <a:lnSpc>
                <a:spcPct val="98770"/>
              </a:lnSpc>
            </a:pPr>
            <a:r>
              <a:rPr lang="en-US" sz="6747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회고 — 가장 크게 배운 것 3가지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3327400"/>
            <a:ext cx="217551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4508500"/>
            <a:ext cx="217551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02200" y="3721100"/>
            <a:ext cx="14579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266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아키텍처는 강제로, 숫자는 한 곳에서, 의도는 코드로 검증한다.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5684500" y="1828800"/>
            <a:ext cx="3276600" cy="963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422900" y="5397500"/>
            <a:ext cx="3276600" cy="963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5684500" y="5397500"/>
            <a:ext cx="3276600" cy="963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422900" y="1828800"/>
            <a:ext cx="3276600" cy="9639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794000" y="54229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① 아키텍처는 강제여야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94000" y="6337300"/>
            <a:ext cx="8585200" cy="198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4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'Core에 Unity 금지'는 지켜지지 않는다.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4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noEngineReferences: true로 컴파일 에러 강제 후 규칙이 진짜가 됐다.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4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테스트 167개가 에디터 없이 3초에 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5600" y="54229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② 같은 숫자 두 곳 금지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2900" y="6337300"/>
            <a:ext cx="85852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5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패링 띠(로직 vs 뷰), 튜토리얼의 밝은 칸과 누를 수 있는 칸, 지도의 길 두께와 노드 크기.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53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전부 같은 원인이었다. 한 곳에서 파생시키면 어긋날 수가 없다.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94000" y="89916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③ 의도와 코드 괴리 검증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94000" y="9906000"/>
            <a:ext cx="85852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잡몹 위협을 턴으로 세니 가만히 있는 것이 최적해 됐다.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클리어 판 0으로 하니 빨리 깬 사람이 손해 봤다.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돌아가게 만드는 것과 의도대로 만드는 것은 다르다.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55600" y="8991600"/>
            <a:ext cx="69469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메시지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42900" y="9906000"/>
            <a:ext cx="85852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규칙은 강제로 만들어야 지켜진다.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중복된 값은 반드시 어긋나므로 단일 출처를 유지한다.</a:t>
            </a:r>
          </a:p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>
                <a:solidFill>
                  <a:srgbClr val="212121"/>
                </a:solidFill>
                <a:latin typeface="Pretendard Bold"/>
                <a:ea typeface="Pretendard Bold"/>
                <a:cs typeface="Pretendard Bold"/>
              </a:rPr>
              <a:t>의도와 구현의 괴리를 찾아 수정하는 것이 진짜 개발이다.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