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4e9402ab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64e9402ab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4e9402ab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64e9402ab_2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64e9402ab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64e9402ab_2_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64e9402ab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64e9402ab_2_1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4e9402ab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64e9402ab_2_1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64e9402ab_2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64e9402ab_2_2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64e9402ab_2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64e9402ab_2_2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64e9402ab_2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64e9402ab_2_2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64e9402ab_2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f64e9402ab_2_3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64e9402ab_2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f64e9402ab_2_3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64e9402ab_2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f64e9402ab_2_3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64e9402ab_2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f64e9402ab_2_3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64e9402ab_2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f64e9402ab_2_4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64e9402ab_2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f64e9402ab_2_4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257175" y="798909"/>
            <a:ext cx="2914650" cy="551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514350" y="1457325"/>
            <a:ext cx="24003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lv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171450" y="600075"/>
            <a:ext cx="3086100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270867" y="1652588"/>
            <a:ext cx="2914650" cy="510778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270867" y="1090017"/>
            <a:ext cx="2914650" cy="562570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600"/>
              <a:buNone/>
              <a:defRPr sz="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171450" y="600075"/>
            <a:ext cx="1514475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2pPr>
            <a:lvl3pPr indent="-2794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 sz="700"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1743075" y="600075"/>
            <a:ext cx="1514475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2pPr>
            <a:lvl3pPr indent="-2794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 sz="700"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171450" y="575667"/>
            <a:ext cx="1515070" cy="239911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171450" y="815578"/>
            <a:ext cx="1515070" cy="148173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1pPr>
            <a:lvl2pPr indent="-2794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667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600"/>
            </a:lvl4pPr>
            <a:lvl5pPr indent="-2667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»"/>
              <a:defRPr sz="600"/>
            </a:lvl5pPr>
            <a:lvl6pPr indent="-2667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6pPr>
            <a:lvl7pPr indent="-2667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7pPr>
            <a:lvl8pPr indent="-2667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8pPr>
            <a:lvl9pPr indent="-2667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1741884" y="575667"/>
            <a:ext cx="1515666" cy="239911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1741884" y="815578"/>
            <a:ext cx="1515666" cy="148173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1pPr>
            <a:lvl2pPr indent="-2794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667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600"/>
            </a:lvl4pPr>
            <a:lvl5pPr indent="-2667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»"/>
              <a:defRPr sz="600"/>
            </a:lvl5pPr>
            <a:lvl6pPr indent="-2667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6pPr>
            <a:lvl7pPr indent="-2667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7pPr>
            <a:lvl8pPr indent="-2667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8pPr>
            <a:lvl9pPr indent="-2667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171450" y="102394"/>
            <a:ext cx="1128117" cy="435769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340644" y="102394"/>
            <a:ext cx="1916906" cy="2194917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171450" y="538163"/>
            <a:ext cx="1128117" cy="1759149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72108" y="1800225"/>
            <a:ext cx="2057400" cy="212527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672108" y="229791"/>
            <a:ext cx="2057400" cy="154305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72108" y="2012752"/>
            <a:ext cx="2057400" cy="3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865882" y="-94357"/>
            <a:ext cx="1697236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1774627" y="814388"/>
            <a:ext cx="2194322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03002" y="71438"/>
            <a:ext cx="2194322" cy="2257425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71450" y="600075"/>
            <a:ext cx="3086100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794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94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94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94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94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60604" y="253746"/>
            <a:ext cx="380619" cy="4639437"/>
          </a:xfrm>
          <a:prstGeom prst="roundRect">
            <a:avLst>
              <a:gd fmla="val 10810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 rot="-5400000">
            <a:off x="-1505331" y="2263140"/>
            <a:ext cx="180022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sz="500"/>
          </a:p>
        </p:txBody>
      </p:sp>
      <p:sp>
        <p:nvSpPr>
          <p:cNvPr id="131" name="Google Shape;131;p25"/>
          <p:cNvSpPr txBox="1"/>
          <p:nvPr/>
        </p:nvSpPr>
        <p:spPr>
          <a:xfrm rot="-5400000">
            <a:off x="-720090" y="4080510"/>
            <a:ext cx="11658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sp>
        <p:nvSpPr>
          <p:cNvPr id="132" name="Google Shape;132;p25"/>
          <p:cNvSpPr/>
          <p:nvPr/>
        </p:nvSpPr>
        <p:spPr>
          <a:xfrm>
            <a:off x="672084" y="253746"/>
            <a:ext cx="8205597" cy="4639437"/>
          </a:xfrm>
          <a:prstGeom prst="roundRect">
            <a:avLst>
              <a:gd fmla="val 103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5"/>
          <p:cNvCxnSpPr/>
          <p:nvPr/>
        </p:nvCxnSpPr>
        <p:spPr>
          <a:xfrm>
            <a:off x="956691" y="476631"/>
            <a:ext cx="6957441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4" name="Google Shape;134;p25"/>
          <p:cNvSpPr/>
          <p:nvPr/>
        </p:nvSpPr>
        <p:spPr>
          <a:xfrm>
            <a:off x="7955280" y="363474"/>
            <a:ext cx="651510" cy="226314"/>
          </a:xfrm>
          <a:prstGeom prst="roundRect">
            <a:avLst>
              <a:gd fmla="val 15151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/>
          </a:p>
        </p:txBody>
      </p:sp>
      <p:sp>
        <p:nvSpPr>
          <p:cNvPr id="135" name="Google Shape;135;p25"/>
          <p:cNvSpPr txBox="1"/>
          <p:nvPr/>
        </p:nvSpPr>
        <p:spPr>
          <a:xfrm>
            <a:off x="1508760" y="1433322"/>
            <a:ext cx="65151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136" name="Google Shape;136;p25"/>
          <p:cNvSpPr txBox="1"/>
          <p:nvPr/>
        </p:nvSpPr>
        <p:spPr>
          <a:xfrm>
            <a:off x="1508760" y="2084832"/>
            <a:ext cx="6515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양평화</a:t>
            </a:r>
            <a:endParaRPr sz="1500"/>
          </a:p>
        </p:txBody>
      </p:sp>
      <p:cxnSp>
        <p:nvCxnSpPr>
          <p:cNvPr id="137" name="Google Shape;137;p25"/>
          <p:cNvCxnSpPr/>
          <p:nvPr/>
        </p:nvCxnSpPr>
        <p:spPr>
          <a:xfrm>
            <a:off x="4289679" y="3000375"/>
            <a:ext cx="984123" cy="0"/>
          </a:xfrm>
          <a:prstGeom prst="straightConnector1">
            <a:avLst/>
          </a:prstGeom>
          <a:noFill/>
          <a:ln cap="flat" cmpd="sng" w="38100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8" name="Google Shape;138;p25"/>
          <p:cNvSpPr/>
          <p:nvPr/>
        </p:nvSpPr>
        <p:spPr>
          <a:xfrm>
            <a:off x="768096" y="3240405"/>
            <a:ext cx="1825085" cy="360045"/>
          </a:xfrm>
          <a:prstGeom prst="roundRect">
            <a:avLst>
              <a:gd fmla="val 1047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Unity 6</a:t>
            </a:r>
            <a:endParaRPr sz="500"/>
          </a:p>
        </p:txBody>
      </p:sp>
      <p:sp>
        <p:nvSpPr>
          <p:cNvPr id="139" name="Google Shape;139;p25"/>
          <p:cNvSpPr/>
          <p:nvPr/>
        </p:nvSpPr>
        <p:spPr>
          <a:xfrm>
            <a:off x="2696051" y="3240405"/>
            <a:ext cx="1825085" cy="360045"/>
          </a:xfrm>
          <a:prstGeom prst="roundRect">
            <a:avLst>
              <a:gd fmla="val 1047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C#</a:t>
            </a:r>
            <a:endParaRPr sz="500"/>
          </a:p>
        </p:txBody>
      </p:sp>
      <p:sp>
        <p:nvSpPr>
          <p:cNvPr id="140" name="Google Shape;140;p25"/>
          <p:cNvSpPr/>
          <p:nvPr/>
        </p:nvSpPr>
        <p:spPr>
          <a:xfrm>
            <a:off x="4624007" y="3240405"/>
            <a:ext cx="1825085" cy="360045"/>
          </a:xfrm>
          <a:prstGeom prst="roundRect">
            <a:avLst>
              <a:gd fmla="val 1047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1인 개발</a:t>
            </a:r>
            <a:endParaRPr sz="500"/>
          </a:p>
        </p:txBody>
      </p:sp>
      <p:sp>
        <p:nvSpPr>
          <p:cNvPr id="141" name="Google Shape;141;p25"/>
          <p:cNvSpPr/>
          <p:nvPr/>
        </p:nvSpPr>
        <p:spPr>
          <a:xfrm>
            <a:off x="6551962" y="3240405"/>
            <a:ext cx="1825085" cy="360045"/>
          </a:xfrm>
          <a:prstGeom prst="roundRect">
            <a:avLst>
              <a:gd fmla="val 1047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3주 (2026.07.14 ~ 08.03)</a:t>
            </a:r>
            <a:endParaRPr sz="500"/>
          </a:p>
        </p:txBody>
      </p:sp>
      <p:cxnSp>
        <p:nvCxnSpPr>
          <p:cNvPr id="142" name="Google Shape;142;p25"/>
          <p:cNvCxnSpPr/>
          <p:nvPr/>
        </p:nvCxnSpPr>
        <p:spPr>
          <a:xfrm>
            <a:off x="953262" y="3960495"/>
            <a:ext cx="7605522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3" name="Google Shape;143;p25"/>
          <p:cNvSpPr txBox="1"/>
          <p:nvPr/>
        </p:nvSpPr>
        <p:spPr>
          <a:xfrm>
            <a:off x="908685" y="4131945"/>
            <a:ext cx="33398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500"/>
          </a:p>
        </p:txBody>
      </p:sp>
      <p:sp>
        <p:nvSpPr>
          <p:cNvPr id="144" name="Google Shape;144;p25"/>
          <p:cNvSpPr txBox="1"/>
          <p:nvPr/>
        </p:nvSpPr>
        <p:spPr>
          <a:xfrm>
            <a:off x="915543" y="4344543"/>
            <a:ext cx="333298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Unity 퍼즐 + 패링 전투 · 매치3 → 보스전 반복</a:t>
            </a:r>
            <a:endParaRPr sz="500"/>
          </a:p>
        </p:txBody>
      </p:sp>
      <p:cxnSp>
        <p:nvCxnSpPr>
          <p:cNvPr id="145" name="Google Shape;145;p25"/>
          <p:cNvCxnSpPr/>
          <p:nvPr/>
        </p:nvCxnSpPr>
        <p:spPr>
          <a:xfrm>
            <a:off x="4570857" y="4114800"/>
            <a:ext cx="0" cy="462915"/>
          </a:xfrm>
          <a:prstGeom prst="straightConnector1">
            <a:avLst/>
          </a:prstGeom>
          <a:noFill/>
          <a:ln cap="flat" cmpd="sng" w="152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6" name="Google Shape;146;p25"/>
          <p:cNvSpPr txBox="1"/>
          <p:nvPr/>
        </p:nvSpPr>
        <p:spPr>
          <a:xfrm>
            <a:off x="4889754" y="4131945"/>
            <a:ext cx="33398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sz="500"/>
          </a:p>
        </p:txBody>
      </p:sp>
      <p:sp>
        <p:nvSpPr>
          <p:cNvPr id="147" name="Google Shape;147;p25"/>
          <p:cNvSpPr txBox="1"/>
          <p:nvPr/>
        </p:nvSpPr>
        <p:spPr>
          <a:xfrm>
            <a:off x="4896612" y="4344543"/>
            <a:ext cx="333298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170파일 / 25,546줄 · 157커밋 · EditMode 테스트 167개 전부 통과</a:t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155" name="Google Shape;155;p26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156" name="Google Shape;156;p26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7" name="Google Shape;157;p26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/>
          </a:p>
        </p:txBody>
      </p:sp>
      <p:sp>
        <p:nvSpPr>
          <p:cNvPr id="158" name="Google Shape;158;p26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두 장르를 한 자원으로 묶었다</a:t>
            </a:r>
            <a:endParaRPr sz="500"/>
          </a:p>
        </p:txBody>
      </p:sp>
      <p:cxnSp>
        <p:nvCxnSpPr>
          <p:cNvPr id="159" name="Google Shape;159;p26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0" name="Google Shape;160;p26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퍼즐은 준비 구간, 보스전은 실력 구간.</a:t>
            </a:r>
            <a:endParaRPr sz="500"/>
          </a:p>
        </p:txBody>
      </p:sp>
      <p:cxnSp>
        <p:nvCxnSpPr>
          <p:cNvPr id="161" name="Google Shape;161;p26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2" name="Google Shape;162;p26"/>
          <p:cNvSpPr txBox="1"/>
          <p:nvPr/>
        </p:nvSpPr>
        <p:spPr>
          <a:xfrm>
            <a:off x="768096" y="1851660"/>
            <a:ext cx="7608951" cy="144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한 판의 흐름</a:t>
            </a:r>
            <a:endParaRPr sz="500"/>
          </a:p>
        </p:txBody>
      </p:sp>
      <p:sp>
        <p:nvSpPr>
          <p:cNvPr id="163" name="Google Shape;163;p26"/>
          <p:cNvSpPr/>
          <p:nvPr/>
        </p:nvSpPr>
        <p:spPr>
          <a:xfrm>
            <a:off x="768096" y="2036826"/>
            <a:ext cx="1269415" cy="325755"/>
          </a:xfrm>
          <a:prstGeom prst="roundRect">
            <a:avLst>
              <a:gd fmla="val 1157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월드맵</a:t>
            </a:r>
            <a:endParaRPr sz="500"/>
          </a:p>
        </p:txBody>
      </p:sp>
      <p:sp>
        <p:nvSpPr>
          <p:cNvPr id="164" name="Google Shape;164;p26"/>
          <p:cNvSpPr txBox="1"/>
          <p:nvPr/>
        </p:nvSpPr>
        <p:spPr>
          <a:xfrm>
            <a:off x="2037512" y="2036826"/>
            <a:ext cx="212598" cy="325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65" name="Google Shape;165;p26"/>
          <p:cNvSpPr/>
          <p:nvPr/>
        </p:nvSpPr>
        <p:spPr>
          <a:xfrm>
            <a:off x="2352980" y="2036826"/>
            <a:ext cx="1269415" cy="325755"/>
          </a:xfrm>
          <a:prstGeom prst="roundRect">
            <a:avLst>
              <a:gd fmla="val 1157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퍼즐 (매치3)</a:t>
            </a:r>
            <a:endParaRPr sz="500"/>
          </a:p>
        </p:txBody>
      </p:sp>
      <p:sp>
        <p:nvSpPr>
          <p:cNvPr id="166" name="Google Shape;166;p26"/>
          <p:cNvSpPr txBox="1"/>
          <p:nvPr/>
        </p:nvSpPr>
        <p:spPr>
          <a:xfrm>
            <a:off x="3622395" y="2036826"/>
            <a:ext cx="212598" cy="325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67" name="Google Shape;167;p26"/>
          <p:cNvSpPr/>
          <p:nvPr/>
        </p:nvSpPr>
        <p:spPr>
          <a:xfrm>
            <a:off x="3937863" y="2036826"/>
            <a:ext cx="1269415" cy="325755"/>
          </a:xfrm>
          <a:prstGeom prst="roundRect">
            <a:avLst>
              <a:gd fmla="val 1157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준비 (스탯 분배)</a:t>
            </a:r>
            <a:endParaRPr sz="500"/>
          </a:p>
        </p:txBody>
      </p:sp>
      <p:sp>
        <p:nvSpPr>
          <p:cNvPr id="168" name="Google Shape;168;p26"/>
          <p:cNvSpPr txBox="1"/>
          <p:nvPr/>
        </p:nvSpPr>
        <p:spPr>
          <a:xfrm>
            <a:off x="5207279" y="2036826"/>
            <a:ext cx="212598" cy="325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69" name="Google Shape;169;p26"/>
          <p:cNvSpPr/>
          <p:nvPr/>
        </p:nvSpPr>
        <p:spPr>
          <a:xfrm>
            <a:off x="5522747" y="2036826"/>
            <a:ext cx="1269415" cy="325755"/>
          </a:xfrm>
          <a:prstGeom prst="roundRect">
            <a:avLst>
              <a:gd fmla="val 1157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보스전 (패링)</a:t>
            </a:r>
            <a:endParaRPr sz="500"/>
          </a:p>
        </p:txBody>
      </p:sp>
      <p:sp>
        <p:nvSpPr>
          <p:cNvPr id="170" name="Google Shape;170;p26"/>
          <p:cNvSpPr txBox="1"/>
          <p:nvPr/>
        </p:nvSpPr>
        <p:spPr>
          <a:xfrm>
            <a:off x="6792163" y="2036826"/>
            <a:ext cx="212598" cy="325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71" name="Google Shape;171;p26"/>
          <p:cNvSpPr/>
          <p:nvPr/>
        </p:nvSpPr>
        <p:spPr>
          <a:xfrm>
            <a:off x="7107631" y="2036826"/>
            <a:ext cx="1269415" cy="325755"/>
          </a:xfrm>
          <a:prstGeom prst="roundRect">
            <a:avLst>
              <a:gd fmla="val 11578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다음 고리</a:t>
            </a:r>
            <a:endParaRPr sz="500"/>
          </a:p>
        </p:txBody>
      </p:sp>
      <p:sp>
        <p:nvSpPr>
          <p:cNvPr id="172" name="Google Shape;172;p26"/>
          <p:cNvSpPr/>
          <p:nvPr/>
        </p:nvSpPr>
        <p:spPr>
          <a:xfrm>
            <a:off x="768096" y="2479167"/>
            <a:ext cx="3710178" cy="977265"/>
          </a:xfrm>
          <a:prstGeom prst="roundRect">
            <a:avLst>
              <a:gd fmla="val 456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922401" y="2633472"/>
            <a:ext cx="34015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퍼즐 → 보스전</a:t>
            </a:r>
            <a:endParaRPr sz="500"/>
          </a:p>
        </p:txBody>
      </p:sp>
      <p:sp>
        <p:nvSpPr>
          <p:cNvPr id="174" name="Google Shape;174;p26"/>
          <p:cNvSpPr txBox="1"/>
          <p:nvPr/>
        </p:nvSpPr>
        <p:spPr>
          <a:xfrm>
            <a:off x="922401" y="2914650"/>
            <a:ext cx="3401568" cy="387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퍼즐에서 캔 소울로 레벨업하고,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퍼즐에서 맞은 HP가 그대로 보스전으로 넘어간다.</a:t>
            </a:r>
            <a:endParaRPr sz="500"/>
          </a:p>
        </p:txBody>
      </p:sp>
      <p:sp>
        <p:nvSpPr>
          <p:cNvPr id="175" name="Google Shape;175;p26"/>
          <p:cNvSpPr/>
          <p:nvPr/>
        </p:nvSpPr>
        <p:spPr>
          <a:xfrm>
            <a:off x="4666869" y="2479167"/>
            <a:ext cx="3710178" cy="977265"/>
          </a:xfrm>
          <a:prstGeom prst="roundRect">
            <a:avLst>
              <a:gd fmla="val 456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4821174" y="2633472"/>
            <a:ext cx="34015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성장은 남는다</a:t>
            </a:r>
            <a:endParaRPr sz="500"/>
          </a:p>
        </p:txBody>
      </p:sp>
      <p:sp>
        <p:nvSpPr>
          <p:cNvPr id="177" name="Google Shape;177;p26"/>
          <p:cNvSpPr txBox="1"/>
          <p:nvPr/>
        </p:nvSpPr>
        <p:spPr>
          <a:xfrm>
            <a:off x="4821174" y="2914650"/>
            <a:ext cx="3401568" cy="387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죽으면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사슬만 끊기고 성장은 남는다.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빌드를 잃지 않으므로 다시 도전할 이유가 생긴다.</a:t>
            </a:r>
            <a:endParaRPr sz="500"/>
          </a:p>
        </p:txBody>
      </p:sp>
      <p:sp>
        <p:nvSpPr>
          <p:cNvPr id="178" name="Google Shape;178;p26"/>
          <p:cNvSpPr/>
          <p:nvPr/>
        </p:nvSpPr>
        <p:spPr>
          <a:xfrm>
            <a:off x="768096" y="3645027"/>
            <a:ext cx="7608951" cy="548640"/>
          </a:xfrm>
          <a:prstGeom prst="roundRect">
            <a:avLst>
              <a:gd fmla="val 8125" name="adj"/>
            </a:avLst>
          </a:prstGeom>
          <a:solidFill>
            <a:srgbClr val="ECF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768096" y="3645027"/>
            <a:ext cx="58293" cy="548640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1059561" y="3720465"/>
            <a:ext cx="7026021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난이도는 실행(패링)에서 오고, 성장은 모서리만 깎는다.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성장이 난이도를 지우면 퍼즐이 무의미해지고, 아무것도 안 하면 성장이 무의미해진다.</a:t>
            </a:r>
            <a:endParaRPr sz="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188" name="Google Shape;188;p27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189" name="Google Shape;189;p27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0" name="Google Shape;190;p27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/>
          </a:p>
        </p:txBody>
      </p:sp>
      <p:sp>
        <p:nvSpPr>
          <p:cNvPr id="191" name="Google Shape;191;p27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의존 방향을 컴파일러가 강제한다</a:t>
            </a:r>
            <a:endParaRPr sz="500"/>
          </a:p>
        </p:txBody>
      </p:sp>
      <p:cxnSp>
        <p:nvCxnSpPr>
          <p:cNvPr id="192" name="Google Shape;192;p27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3" name="Google Shape;193;p27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noEngineReferences: true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한 줄이 「약속」을 「빌드 에러」로 만들었다.</a:t>
            </a:r>
            <a:endParaRPr sz="500"/>
          </a:p>
        </p:txBody>
      </p:sp>
      <p:cxnSp>
        <p:nvCxnSpPr>
          <p:cNvPr id="194" name="Google Shape;194;p27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5" name="Google Shape;195;p27"/>
          <p:cNvSpPr/>
          <p:nvPr/>
        </p:nvSpPr>
        <p:spPr>
          <a:xfrm>
            <a:off x="768096" y="1851660"/>
            <a:ext cx="7608951" cy="274320"/>
          </a:xfrm>
          <a:prstGeom prst="roundRect">
            <a:avLst>
              <a:gd fmla="val 11249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956691" y="1851660"/>
            <a:ext cx="10739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계층</a:t>
            </a:r>
            <a:endParaRPr sz="500"/>
          </a:p>
        </p:txBody>
      </p:sp>
      <p:sp>
        <p:nvSpPr>
          <p:cNvPr id="197" name="Google Shape;197;p27"/>
          <p:cNvSpPr txBox="1"/>
          <p:nvPr/>
        </p:nvSpPr>
        <p:spPr>
          <a:xfrm>
            <a:off x="2373530" y="1851660"/>
            <a:ext cx="14412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규모</a:t>
            </a:r>
            <a:endParaRPr sz="500"/>
          </a:p>
        </p:txBody>
      </p:sp>
      <p:sp>
        <p:nvSpPr>
          <p:cNvPr id="198" name="Google Shape;198;p27"/>
          <p:cNvSpPr txBox="1"/>
          <p:nvPr/>
        </p:nvSpPr>
        <p:spPr>
          <a:xfrm>
            <a:off x="4157698" y="1851660"/>
            <a:ext cx="40650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sz="500"/>
          </a:p>
        </p:txBody>
      </p:sp>
      <p:sp>
        <p:nvSpPr>
          <p:cNvPr id="199" name="Google Shape;199;p27"/>
          <p:cNvSpPr/>
          <p:nvPr/>
        </p:nvSpPr>
        <p:spPr>
          <a:xfrm>
            <a:off x="768096" y="2170557"/>
            <a:ext cx="7608951" cy="406336"/>
          </a:xfrm>
          <a:prstGeom prst="roundRect">
            <a:avLst>
              <a:gd fmla="val 7594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956691" y="2191131"/>
            <a:ext cx="1073939" cy="365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Editor</a:t>
            </a:r>
            <a:endParaRPr sz="500"/>
          </a:p>
        </p:txBody>
      </p:sp>
      <p:sp>
        <p:nvSpPr>
          <p:cNvPr id="201" name="Google Shape;201;p27"/>
          <p:cNvSpPr txBox="1"/>
          <p:nvPr/>
        </p:nvSpPr>
        <p:spPr>
          <a:xfrm>
            <a:off x="2373530" y="2191131"/>
            <a:ext cx="1441268" cy="365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19파일 / 4,920줄</a:t>
            </a:r>
            <a:endParaRPr sz="500"/>
          </a:p>
        </p:txBody>
      </p:sp>
      <p:sp>
        <p:nvSpPr>
          <p:cNvPr id="202" name="Google Shape;202;p27"/>
          <p:cNvSpPr txBox="1"/>
          <p:nvPr/>
        </p:nvSpPr>
        <p:spPr>
          <a:xfrm>
            <a:off x="4157698" y="2191131"/>
            <a:ext cx="4065044" cy="365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채보 · 보드 · 현지화 툴 (커스텀 메뉴 34종)</a:t>
            </a:r>
            <a:endParaRPr sz="500"/>
          </a:p>
        </p:txBody>
      </p:sp>
      <p:sp>
        <p:nvSpPr>
          <p:cNvPr id="203" name="Google Shape;203;p27"/>
          <p:cNvSpPr/>
          <p:nvPr/>
        </p:nvSpPr>
        <p:spPr>
          <a:xfrm>
            <a:off x="768096" y="2621471"/>
            <a:ext cx="7608951" cy="406336"/>
          </a:xfrm>
          <a:prstGeom prst="roundRect">
            <a:avLst>
              <a:gd fmla="val 7594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956691" y="2642044"/>
            <a:ext cx="1073939" cy="365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(어댑터)</a:t>
            </a:r>
            <a:endParaRPr sz="500"/>
          </a:p>
        </p:txBody>
      </p:sp>
      <p:sp>
        <p:nvSpPr>
          <p:cNvPr id="205" name="Google Shape;205;p27"/>
          <p:cNvSpPr txBox="1"/>
          <p:nvPr/>
        </p:nvSpPr>
        <p:spPr>
          <a:xfrm>
            <a:off x="2373530" y="2642044"/>
            <a:ext cx="1441268" cy="365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74파일 / 12,464줄</a:t>
            </a:r>
            <a:endParaRPr sz="500"/>
          </a:p>
        </p:txBody>
      </p:sp>
      <p:sp>
        <p:nvSpPr>
          <p:cNvPr id="206" name="Google Shape;206;p27"/>
          <p:cNvSpPr txBox="1"/>
          <p:nvPr/>
        </p:nvSpPr>
        <p:spPr>
          <a:xfrm>
            <a:off x="4157698" y="2642044"/>
            <a:ext cx="4065044" cy="365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MonoBehaviour · UI · VFX · Audio</a:t>
            </a:r>
            <a:endParaRPr sz="500"/>
          </a:p>
        </p:txBody>
      </p:sp>
      <p:sp>
        <p:nvSpPr>
          <p:cNvPr id="207" name="Google Shape;207;p27"/>
          <p:cNvSpPr/>
          <p:nvPr/>
        </p:nvSpPr>
        <p:spPr>
          <a:xfrm>
            <a:off x="768096" y="3072384"/>
            <a:ext cx="7608951" cy="406336"/>
          </a:xfrm>
          <a:prstGeom prst="roundRect">
            <a:avLst>
              <a:gd fmla="val 7594" name="adj"/>
            </a:avLst>
          </a:prstGeom>
          <a:solidFill>
            <a:srgbClr val="ECF3FF"/>
          </a:solidFill>
          <a:ln cap="flat" cmpd="sng" w="19050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956691" y="3092958"/>
            <a:ext cx="1073939" cy="365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Core (순수 C#)</a:t>
            </a:r>
            <a:endParaRPr sz="500"/>
          </a:p>
        </p:txBody>
      </p:sp>
      <p:sp>
        <p:nvSpPr>
          <p:cNvPr id="209" name="Google Shape;209;p27"/>
          <p:cNvSpPr txBox="1"/>
          <p:nvPr/>
        </p:nvSpPr>
        <p:spPr>
          <a:xfrm>
            <a:off x="2373530" y="3092958"/>
            <a:ext cx="1441268" cy="365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59파일 / 5,025줄</a:t>
            </a:r>
            <a:endParaRPr sz="500"/>
          </a:p>
        </p:txBody>
      </p:sp>
      <p:sp>
        <p:nvSpPr>
          <p:cNvPr id="210" name="Google Shape;210;p27"/>
          <p:cNvSpPr txBox="1"/>
          <p:nvPr/>
        </p:nvSpPr>
        <p:spPr>
          <a:xfrm>
            <a:off x="4157698" y="3092958"/>
            <a:ext cx="4065044" cy="365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★ </a:t>
            </a: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UnityEngine 참조 불가 — 컴파일 강제</a:t>
            </a: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★</a:t>
            </a:r>
            <a:endParaRPr sz="500"/>
          </a:p>
        </p:txBody>
      </p:sp>
      <p:sp>
        <p:nvSpPr>
          <p:cNvPr id="211" name="Google Shape;211;p27"/>
          <p:cNvSpPr/>
          <p:nvPr/>
        </p:nvSpPr>
        <p:spPr>
          <a:xfrm>
            <a:off x="768096" y="3523297"/>
            <a:ext cx="7608951" cy="406336"/>
          </a:xfrm>
          <a:prstGeom prst="roundRect">
            <a:avLst>
              <a:gd fmla="val 7594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956691" y="3543871"/>
            <a:ext cx="1073939" cy="365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Core.Tests</a:t>
            </a:r>
            <a:endParaRPr sz="500"/>
          </a:p>
        </p:txBody>
      </p:sp>
      <p:sp>
        <p:nvSpPr>
          <p:cNvPr id="213" name="Google Shape;213;p27"/>
          <p:cNvSpPr txBox="1"/>
          <p:nvPr/>
        </p:nvSpPr>
        <p:spPr>
          <a:xfrm>
            <a:off x="2373530" y="3543871"/>
            <a:ext cx="1441268" cy="365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18파일 / 3,137줄</a:t>
            </a:r>
            <a:endParaRPr sz="500"/>
          </a:p>
        </p:txBody>
      </p:sp>
      <p:sp>
        <p:nvSpPr>
          <p:cNvPr id="214" name="Google Shape;214;p27"/>
          <p:cNvSpPr txBox="1"/>
          <p:nvPr/>
        </p:nvSpPr>
        <p:spPr>
          <a:xfrm>
            <a:off x="4157698" y="3543871"/>
            <a:ext cx="4065044" cy="365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EditMode 167개 · 에디터 없이 실행</a:t>
            </a:r>
            <a:endParaRPr sz="500"/>
          </a:p>
        </p:txBody>
      </p:sp>
      <p:sp>
        <p:nvSpPr>
          <p:cNvPr id="215" name="Google Shape;215;p27"/>
          <p:cNvSpPr/>
          <p:nvPr/>
        </p:nvSpPr>
        <p:spPr>
          <a:xfrm>
            <a:off x="768096" y="4053078"/>
            <a:ext cx="7608951" cy="558927"/>
          </a:xfrm>
          <a:prstGeom prst="roundRect">
            <a:avLst>
              <a:gd fmla="val 7975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1059561" y="4128516"/>
            <a:ext cx="7026021" cy="408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왜 규칙을 코드로 강제했나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"Core에 Unity를 쓰지 말자"는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지켜지지 않는다.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그것이 컴파일 에러가 된 순간부터 규칙이 진짜가 됐다. → 이 결정이 값을 한 순간은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10장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에 있다.</a:t>
            </a:r>
            <a:endParaRPr sz="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224" name="Google Shape;224;p28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225" name="Google Shape;225;p28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6" name="Google Shape;226;p28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500"/>
          </a:p>
        </p:txBody>
      </p:sp>
      <p:sp>
        <p:nvSpPr>
          <p:cNvPr id="227" name="Google Shape;227;p28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경계를 넘는 방법이 3가지뿐이다</a:t>
            </a:r>
            <a:endParaRPr sz="500"/>
          </a:p>
        </p:txBody>
      </p:sp>
      <p:cxnSp>
        <p:nvCxnSpPr>
          <p:cNvPr id="228" name="Google Shape;228;p28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9" name="Google Shape;229;p28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배선이 전부 같은 패턴을 따르면, 새 기능도 그 패턴에 붙는다.</a:t>
            </a:r>
            <a:endParaRPr sz="500"/>
          </a:p>
        </p:txBody>
      </p:sp>
      <p:cxnSp>
        <p:nvCxnSpPr>
          <p:cNvPr id="230" name="Google Shape;230;p28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1" name="Google Shape;231;p28"/>
          <p:cNvSpPr/>
          <p:nvPr/>
        </p:nvSpPr>
        <p:spPr>
          <a:xfrm>
            <a:off x="768096" y="1851660"/>
            <a:ext cx="7608951" cy="44577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956691" y="1951101"/>
            <a:ext cx="1097280" cy="246888"/>
          </a:xfrm>
          <a:prstGeom prst="roundRect">
            <a:avLst>
              <a:gd fmla="val 13888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 1</a:t>
            </a:r>
            <a:endParaRPr sz="500"/>
          </a:p>
        </p:txBody>
      </p:sp>
      <p:sp>
        <p:nvSpPr>
          <p:cNvPr id="233" name="Google Shape;233;p28"/>
          <p:cNvSpPr txBox="1"/>
          <p:nvPr/>
        </p:nvSpPr>
        <p:spPr>
          <a:xfrm>
            <a:off x="2242566" y="1920240"/>
            <a:ext cx="21259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ScriptableObject</a:t>
            </a:r>
            <a:endParaRPr sz="500"/>
          </a:p>
        </p:txBody>
      </p:sp>
      <p:sp>
        <p:nvSpPr>
          <p:cNvPr id="234" name="Google Shape;234;p28"/>
          <p:cNvSpPr txBox="1"/>
          <p:nvPr/>
        </p:nvSpPr>
        <p:spPr>
          <a:xfrm>
            <a:off x="4539996" y="1920240"/>
            <a:ext cx="3631311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밸런스 수치는 전부 SO. 코드에 상수로 박힌 밸런스가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이다 (SO 10종).</a:t>
            </a:r>
            <a:endParaRPr sz="500"/>
          </a:p>
        </p:txBody>
      </p:sp>
      <p:sp>
        <p:nvSpPr>
          <p:cNvPr id="235" name="Google Shape;235;p28"/>
          <p:cNvSpPr/>
          <p:nvPr/>
        </p:nvSpPr>
        <p:spPr>
          <a:xfrm>
            <a:off x="768096" y="2372868"/>
            <a:ext cx="7608951" cy="44577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956691" y="2472309"/>
            <a:ext cx="1097280" cy="246888"/>
          </a:xfrm>
          <a:prstGeom prst="roundRect">
            <a:avLst>
              <a:gd fmla="val 13888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 2</a:t>
            </a:r>
            <a:endParaRPr sz="500"/>
          </a:p>
        </p:txBody>
      </p:sp>
      <p:sp>
        <p:nvSpPr>
          <p:cNvPr id="237" name="Google Shape;237;p28"/>
          <p:cNvSpPr txBox="1"/>
          <p:nvPr/>
        </p:nvSpPr>
        <p:spPr>
          <a:xfrm>
            <a:off x="2242566" y="2441448"/>
            <a:ext cx="21259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Func&lt;&gt; 로 감싼다</a:t>
            </a:r>
            <a:endParaRPr sz="500"/>
          </a:p>
        </p:txBody>
      </p:sp>
      <p:sp>
        <p:nvSpPr>
          <p:cNvPr id="238" name="Google Shape;238;p28"/>
          <p:cNvSpPr txBox="1"/>
          <p:nvPr/>
        </p:nvSpPr>
        <p:spPr>
          <a:xfrm>
            <a:off x="4539996" y="2441448"/>
            <a:ext cx="3631311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AnimationCurve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Func&lt;float,float&gt;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 Core는 커브를 "값을 돌려주는 함수"로만 안다.</a:t>
            </a:r>
            <a:endParaRPr sz="500"/>
          </a:p>
        </p:txBody>
      </p:sp>
      <p:sp>
        <p:nvSpPr>
          <p:cNvPr id="239" name="Google Shape;239;p28"/>
          <p:cNvSpPr/>
          <p:nvPr/>
        </p:nvSpPr>
        <p:spPr>
          <a:xfrm>
            <a:off x="768096" y="2894076"/>
            <a:ext cx="7608951" cy="44577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956691" y="2993517"/>
            <a:ext cx="1097280" cy="246888"/>
          </a:xfrm>
          <a:prstGeom prst="roundRect">
            <a:avLst>
              <a:gd fmla="val 13888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 3</a:t>
            </a:r>
            <a:endParaRPr sz="500"/>
          </a:p>
        </p:txBody>
      </p:sp>
      <p:sp>
        <p:nvSpPr>
          <p:cNvPr id="241" name="Google Shape;241;p28"/>
          <p:cNvSpPr txBox="1"/>
          <p:nvPr/>
        </p:nvSpPr>
        <p:spPr>
          <a:xfrm>
            <a:off x="2242566" y="2962656"/>
            <a:ext cx="21259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C# event 25종</a:t>
            </a:r>
            <a:endParaRPr sz="500"/>
          </a:p>
        </p:txBody>
      </p:sp>
      <p:sp>
        <p:nvSpPr>
          <p:cNvPr id="242" name="Google Shape;242;p28"/>
          <p:cNvSpPr txBox="1"/>
          <p:nvPr/>
        </p:nvSpPr>
        <p:spPr>
          <a:xfrm>
            <a:off x="4539996" y="2962656"/>
            <a:ext cx="3631311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Core는 이벤트로만 말한다. </a:t>
            </a: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역방향 참조 없이</a:t>
            </a: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화면이 반응한다.</a:t>
            </a:r>
            <a:endParaRPr sz="500"/>
          </a:p>
        </p:txBody>
      </p:sp>
      <p:sp>
        <p:nvSpPr>
          <p:cNvPr id="243" name="Google Shape;243;p28"/>
          <p:cNvSpPr/>
          <p:nvPr/>
        </p:nvSpPr>
        <p:spPr>
          <a:xfrm>
            <a:off x="768096" y="3442716"/>
            <a:ext cx="7608951" cy="634365"/>
          </a:xfrm>
          <a:prstGeom prst="roundRect">
            <a:avLst>
              <a:gd fmla="val 7027" name="adj"/>
            </a:avLst>
          </a:prstGeom>
          <a:solidFill>
            <a:srgbClr val="ECF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768096" y="3442716"/>
            <a:ext cx="58293" cy="634365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1059561" y="3518154"/>
            <a:ext cx="7026021" cy="483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코드에 고유명사를 적지 않는다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if (stageName == "2-1")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같은 코드가 없다. 난이도도 표가 아니라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고리 깊이 × 증가율로 계산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한다 — 표였다면 갱신을 잊어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새 판만 조용히 물렁해진다.</a:t>
            </a:r>
            <a:endParaRPr sz="500"/>
          </a:p>
        </p:txBody>
      </p:sp>
      <p:sp>
        <p:nvSpPr>
          <p:cNvPr id="246" name="Google Shape;246;p28"/>
          <p:cNvSpPr/>
          <p:nvPr/>
        </p:nvSpPr>
        <p:spPr>
          <a:xfrm>
            <a:off x="768096" y="4173093"/>
            <a:ext cx="7608951" cy="438912"/>
          </a:xfrm>
          <a:prstGeom prst="roundRect">
            <a:avLst>
              <a:gd fmla="val 1015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956691" y="4269105"/>
            <a:ext cx="1165860" cy="246888"/>
          </a:xfrm>
          <a:prstGeom prst="roundRect">
            <a:avLst>
              <a:gd fmla="val 13888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확장 비용</a:t>
            </a:r>
            <a:endParaRPr sz="500"/>
          </a:p>
        </p:txBody>
      </p:sp>
      <p:sp>
        <p:nvSpPr>
          <p:cNvPr id="248" name="Google Shape;248;p28"/>
          <p:cNvSpPr txBox="1"/>
          <p:nvPr/>
        </p:nvSpPr>
        <p:spPr>
          <a:xfrm>
            <a:off x="2311146" y="4241673"/>
            <a:ext cx="18516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붙이는 값이 1개다</a:t>
            </a:r>
            <a:endParaRPr sz="500"/>
          </a:p>
        </p:txBody>
      </p:sp>
      <p:sp>
        <p:nvSpPr>
          <p:cNvPr id="249" name="Google Shape;249;p28"/>
          <p:cNvSpPr txBox="1"/>
          <p:nvPr/>
        </p:nvSpPr>
        <p:spPr>
          <a:xfrm>
            <a:off x="4334256" y="4241673"/>
            <a:ext cx="3837051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스테이지 = 에셋 1개  ·  캐릭터 = 에셋 1개  ·  기믹 =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StageGimmick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상속 1개  ·  언어 = CSV 열 1개</a:t>
            </a:r>
            <a:endParaRPr sz="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257" name="Google Shape;257;p29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258" name="Google Shape;258;p29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9" name="Google Shape;259;p29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500"/>
          </a:p>
        </p:txBody>
      </p:sp>
      <p:sp>
        <p:nvSpPr>
          <p:cNvPr id="260" name="Google Shape;260;p29"/>
          <p:cNvSpPr txBox="1"/>
          <p:nvPr/>
        </p:nvSpPr>
        <p:spPr>
          <a:xfrm>
            <a:off x="1443609" y="706374"/>
            <a:ext cx="625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① 리듬 패링 전투</a:t>
            </a:r>
            <a:endParaRPr sz="500"/>
          </a:p>
        </p:txBody>
      </p:sp>
      <p:cxnSp>
        <p:nvCxnSpPr>
          <p:cNvPr id="261" name="Google Shape;261;p29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2" name="Google Shape;262;p29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프레임레이트와 무관하게, 같은 입력이면 같은 결과가 나온다.</a:t>
            </a:r>
            <a:endParaRPr sz="500"/>
          </a:p>
        </p:txBody>
      </p:sp>
      <p:cxnSp>
        <p:nvCxnSpPr>
          <p:cNvPr id="263" name="Google Shape;263;p29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4" name="Google Shape;264;p29"/>
          <p:cNvSpPr/>
          <p:nvPr/>
        </p:nvSpPr>
        <p:spPr>
          <a:xfrm>
            <a:off x="768096" y="1851660"/>
            <a:ext cx="2454021" cy="1577340"/>
          </a:xfrm>
          <a:prstGeom prst="roundRect">
            <a:avLst>
              <a:gd fmla="val 282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922401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채보 기반</a:t>
            </a:r>
            <a:endParaRPr sz="500"/>
          </a:p>
        </p:txBody>
      </p:sp>
      <p:sp>
        <p:nvSpPr>
          <p:cNvPr id="266" name="Google Shape;266;p29"/>
          <p:cNvSpPr txBox="1"/>
          <p:nvPr/>
        </p:nvSpPr>
        <p:spPr>
          <a:xfrm>
            <a:off x="922401" y="2287143"/>
            <a:ext cx="214541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박(beat) 단위 노트</a:t>
            </a:r>
            <a:endParaRPr sz="500"/>
          </a:p>
        </p:txBody>
      </p:sp>
      <p:sp>
        <p:nvSpPr>
          <p:cNvPr id="267" name="Google Shape;267;p29"/>
          <p:cNvSpPr txBox="1"/>
          <p:nvPr/>
        </p:nvSpPr>
        <p:spPr>
          <a:xfrm>
            <a:off x="922401" y="2568321"/>
            <a:ext cx="2145411" cy="706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보스 공격을 타격 시점 · 예비동작 길이 · 피해 배율로 찍는다.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연속기는 별도 타입이 아니다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노트를 촘촘히 찍으면 그게 연속기다.</a:t>
            </a:r>
            <a:endParaRPr sz="500"/>
          </a:p>
        </p:txBody>
      </p:sp>
      <p:sp>
        <p:nvSpPr>
          <p:cNvPr id="268" name="Google Shape;268;p29"/>
          <p:cNvSpPr/>
          <p:nvPr/>
        </p:nvSpPr>
        <p:spPr>
          <a:xfrm>
            <a:off x="3345561" y="1851660"/>
            <a:ext cx="2454021" cy="1577340"/>
          </a:xfrm>
          <a:prstGeom prst="roundRect">
            <a:avLst>
              <a:gd fmla="val 282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3499866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판정 = 뷰</a:t>
            </a:r>
            <a:endParaRPr sz="500"/>
          </a:p>
        </p:txBody>
      </p:sp>
      <p:sp>
        <p:nvSpPr>
          <p:cNvPr id="270" name="Google Shape;270;p29"/>
          <p:cNvSpPr txBox="1"/>
          <p:nvPr/>
        </p:nvSpPr>
        <p:spPr>
          <a:xfrm>
            <a:off x="3499866" y="2287143"/>
            <a:ext cx="214541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보이는 것이 곧 판정</a:t>
            </a:r>
            <a:endParaRPr sz="500"/>
          </a:p>
        </p:txBody>
      </p:sp>
      <p:sp>
        <p:nvSpPr>
          <p:cNvPr id="271" name="Google Shape;271;p29"/>
          <p:cNvSpPr txBox="1"/>
          <p:nvPr/>
        </p:nvSpPr>
        <p:spPr>
          <a:xfrm>
            <a:off x="3499866" y="2568321"/>
            <a:ext cx="2145411" cy="706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다가오는 흰 원의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안쪽 테두리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가 노트의 위치이고, 회색 띠의 두께가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판정 폭 그 자체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로직과 뷰가 같은 수치에서 파생되므로 어긋날 수 없다.</a:t>
            </a:r>
            <a:endParaRPr sz="500"/>
          </a:p>
        </p:txBody>
      </p:sp>
      <p:sp>
        <p:nvSpPr>
          <p:cNvPr id="272" name="Google Shape;272;p29"/>
          <p:cNvSpPr/>
          <p:nvPr/>
        </p:nvSpPr>
        <p:spPr>
          <a:xfrm>
            <a:off x="5923026" y="1851660"/>
            <a:ext cx="2454021" cy="1577340"/>
          </a:xfrm>
          <a:prstGeom prst="roundRect">
            <a:avLst>
              <a:gd fmla="val 282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9"/>
          <p:cNvSpPr/>
          <p:nvPr/>
        </p:nvSpPr>
        <p:spPr>
          <a:xfrm>
            <a:off x="6077331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결정적</a:t>
            </a:r>
            <a:endParaRPr sz="500"/>
          </a:p>
        </p:txBody>
      </p:sp>
      <p:sp>
        <p:nvSpPr>
          <p:cNvPr id="274" name="Google Shape;274;p29"/>
          <p:cNvSpPr txBox="1"/>
          <p:nvPr/>
        </p:nvSpPr>
        <p:spPr>
          <a:xfrm>
            <a:off x="6077331" y="2287143"/>
            <a:ext cx="214541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경계까지만 진행</a:t>
            </a:r>
            <a:endParaRPr sz="500"/>
          </a:p>
        </p:txBody>
      </p:sp>
      <p:sp>
        <p:nvSpPr>
          <p:cNvPr id="275" name="Google Shape;275;p29"/>
          <p:cNvSpPr txBox="1"/>
          <p:nvPr/>
        </p:nvSpPr>
        <p:spPr>
          <a:xfrm>
            <a:off x="6077331" y="2568321"/>
            <a:ext cx="2145411" cy="706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프레임 단위로 흘리지 않고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다음 상태 경계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(타격 시점 · 윈도우 만료)까지만 진행한다.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→ 엔진 없이 순수 C#으로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전투 전체를 테스트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할 수 있다.</a:t>
            </a:r>
            <a:endParaRPr sz="500"/>
          </a:p>
        </p:txBody>
      </p:sp>
      <p:sp>
        <p:nvSpPr>
          <p:cNvPr id="276" name="Google Shape;276;p29"/>
          <p:cNvSpPr/>
          <p:nvPr/>
        </p:nvSpPr>
        <p:spPr>
          <a:xfrm>
            <a:off x="768096" y="3552444"/>
            <a:ext cx="7608951" cy="480060"/>
          </a:xfrm>
          <a:prstGeom prst="roundRect">
            <a:avLst>
              <a:gd fmla="val 9285" name="adj"/>
            </a:avLst>
          </a:prstGeom>
          <a:solidFill>
            <a:srgbClr val="ECF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9"/>
          <p:cNvSpPr/>
          <p:nvPr/>
        </p:nvSpPr>
        <p:spPr>
          <a:xfrm>
            <a:off x="768096" y="3552444"/>
            <a:ext cx="58293" cy="480060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1059561" y="3627882"/>
            <a:ext cx="7026021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PARRY 스탯을 올리면 띠가 눈에 띄게 굵어진다.</a:t>
            </a:r>
            <a:endParaRPr sz="500"/>
          </a:p>
        </p:txBody>
      </p:sp>
      <p:sp>
        <p:nvSpPr>
          <p:cNvPr id="279" name="Google Shape;279;p29"/>
          <p:cNvSpPr/>
          <p:nvPr/>
        </p:nvSpPr>
        <p:spPr>
          <a:xfrm>
            <a:off x="768096" y="4135374"/>
            <a:ext cx="7608951" cy="476631"/>
          </a:xfrm>
          <a:prstGeom prst="roundRect">
            <a:avLst>
              <a:gd fmla="val 8633" name="adj"/>
            </a:avLst>
          </a:prstGeom>
          <a:solidFill>
            <a:srgbClr val="F5F5F5"/>
          </a:solidFill>
          <a:ln cap="flat" cmpd="sng" w="20300">
            <a:solidFill>
              <a:srgbClr val="B8B8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▶ 영상 5초 — 패링 판정 링</a:t>
            </a:r>
            <a:endParaRPr sz="500"/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정지 이미지로는 설명이 안 된다 · 인살 컷씬도 함께</a:t>
            </a:r>
            <a:endParaRPr sz="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287" name="Google Shape;287;p30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288" name="Google Shape;288;p30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9" name="Google Shape;289;p30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500"/>
          </a:p>
        </p:txBody>
      </p:sp>
      <p:sp>
        <p:nvSpPr>
          <p:cNvPr id="290" name="Google Shape;290;p30"/>
          <p:cNvSpPr txBox="1"/>
          <p:nvPr/>
        </p:nvSpPr>
        <p:spPr>
          <a:xfrm>
            <a:off x="1443609" y="706374"/>
            <a:ext cx="625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② 퍼즐 엔진</a:t>
            </a:r>
            <a:endParaRPr sz="500"/>
          </a:p>
        </p:txBody>
      </p:sp>
      <p:cxnSp>
        <p:nvCxnSpPr>
          <p:cNvPr id="291" name="Google Shape;291;p30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30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모델은 완결된 결과를 한 번에 내고, 뷰는 그 기록을 재생만 한다.</a:t>
            </a:r>
            <a:endParaRPr sz="500"/>
          </a:p>
        </p:txBody>
      </p:sp>
      <p:cxnSp>
        <p:nvCxnSpPr>
          <p:cNvPr id="293" name="Google Shape;293;p30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4" name="Google Shape;294;p30"/>
          <p:cNvSpPr/>
          <p:nvPr/>
        </p:nvSpPr>
        <p:spPr>
          <a:xfrm>
            <a:off x="768096" y="1851660"/>
            <a:ext cx="7608951" cy="737235"/>
          </a:xfrm>
          <a:prstGeom prst="roundRect">
            <a:avLst>
              <a:gd fmla="val 604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1008126" y="1961388"/>
            <a:ext cx="2160270" cy="377190"/>
          </a:xfrm>
          <a:prstGeom prst="roundRect">
            <a:avLst>
              <a:gd fmla="val 9090" name="adj"/>
            </a:avLst>
          </a:prstGeom>
          <a:solidFill>
            <a:srgbClr val="FFFFFF"/>
          </a:solidFill>
          <a:ln cap="flat" cmpd="sng" w="22850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PuzzleEngine.Swap(a, b)</a:t>
            </a:r>
            <a:endParaRPr sz="500"/>
          </a:p>
        </p:txBody>
      </p:sp>
      <p:sp>
        <p:nvSpPr>
          <p:cNvPr id="296" name="Google Shape;296;p30"/>
          <p:cNvSpPr txBox="1"/>
          <p:nvPr/>
        </p:nvSpPr>
        <p:spPr>
          <a:xfrm>
            <a:off x="3168396" y="1961388"/>
            <a:ext cx="39433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297" name="Google Shape;297;p30"/>
          <p:cNvSpPr/>
          <p:nvPr/>
        </p:nvSpPr>
        <p:spPr>
          <a:xfrm>
            <a:off x="3562731" y="1961388"/>
            <a:ext cx="2160270" cy="377190"/>
          </a:xfrm>
          <a:prstGeom prst="roundRect">
            <a:avLst>
              <a:gd fmla="val 9090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SwapResult</a:t>
            </a:r>
            <a:endParaRPr sz="500"/>
          </a:p>
        </p:txBody>
      </p:sp>
      <p:sp>
        <p:nvSpPr>
          <p:cNvPr id="298" name="Google Shape;298;p30"/>
          <p:cNvSpPr txBox="1"/>
          <p:nvPr/>
        </p:nvSpPr>
        <p:spPr>
          <a:xfrm>
            <a:off x="5723001" y="1961388"/>
            <a:ext cx="39433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299" name="Google Shape;299;p30"/>
          <p:cNvSpPr/>
          <p:nvPr/>
        </p:nvSpPr>
        <p:spPr>
          <a:xfrm>
            <a:off x="6117336" y="1961388"/>
            <a:ext cx="2160270" cy="377190"/>
          </a:xfrm>
          <a:prstGeom prst="roundRect">
            <a:avLst>
              <a:gd fmla="val 9090" name="adj"/>
            </a:avLst>
          </a:prstGeom>
          <a:solidFill>
            <a:srgbClr val="FFFFFF"/>
          </a:solidFill>
          <a:ln cap="flat" cmpd="sng" w="22850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BoardView 재생</a:t>
            </a:r>
            <a:endParaRPr sz="500"/>
          </a:p>
        </p:txBody>
      </p:sp>
      <p:sp>
        <p:nvSpPr>
          <p:cNvPr id="300" name="Google Shape;300;p30"/>
          <p:cNvSpPr txBox="1"/>
          <p:nvPr/>
        </p:nvSpPr>
        <p:spPr>
          <a:xfrm>
            <a:off x="1008126" y="2372868"/>
            <a:ext cx="71288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SwapResult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= 캐스케이드 · 낙하 · 기믹이 전부 담긴 완결 기록. 연출이 도는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중에도 모델은 이미 최종 상태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sz="500"/>
          </a:p>
        </p:txBody>
      </p:sp>
      <p:sp>
        <p:nvSpPr>
          <p:cNvPr id="301" name="Google Shape;301;p30"/>
          <p:cNvSpPr/>
          <p:nvPr/>
        </p:nvSpPr>
        <p:spPr>
          <a:xfrm>
            <a:off x="768096" y="2705481"/>
            <a:ext cx="3718750" cy="1148715"/>
          </a:xfrm>
          <a:prstGeom prst="roundRect">
            <a:avLst>
              <a:gd fmla="val 3880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0"/>
          <p:cNvSpPr txBox="1"/>
          <p:nvPr/>
        </p:nvSpPr>
        <p:spPr>
          <a:xfrm>
            <a:off x="922401" y="2859786"/>
            <a:ext cx="341014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비정형 보드를 버티는 규칙</a:t>
            </a:r>
            <a:endParaRPr sz="500"/>
          </a:p>
        </p:txBody>
      </p:sp>
      <p:sp>
        <p:nvSpPr>
          <p:cNvPr id="303" name="Google Shape;303;p30"/>
          <p:cNvSpPr txBox="1"/>
          <p:nvPr/>
        </p:nvSpPr>
        <p:spPr>
          <a:xfrm>
            <a:off x="922401" y="3140964"/>
            <a:ext cx="3410141" cy="558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하트 · 해골 모양 보드 · 중력 + 대각 슬라이드 ·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데드락 검출 후 턴 미소모 리롤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매치 없는 스왑은 턴을 안 먹으므로, 수가 없으면 게임이 그냥 멈춘다.</a:t>
            </a:r>
            <a:endParaRPr sz="500"/>
          </a:p>
        </p:txBody>
      </p:sp>
      <p:sp>
        <p:nvSpPr>
          <p:cNvPr id="304" name="Google Shape;304;p30"/>
          <p:cNvSpPr/>
          <p:nvPr/>
        </p:nvSpPr>
        <p:spPr>
          <a:xfrm>
            <a:off x="4658297" y="2705481"/>
            <a:ext cx="3718750" cy="1148715"/>
          </a:xfrm>
          <a:prstGeom prst="roundRect">
            <a:avLst>
              <a:gd fmla="val 3880" name="adj"/>
            </a:avLst>
          </a:prstGeom>
          <a:solidFill>
            <a:srgbClr val="ECF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0"/>
          <p:cNvSpPr/>
          <p:nvPr/>
        </p:nvSpPr>
        <p:spPr>
          <a:xfrm>
            <a:off x="4658297" y="2705481"/>
            <a:ext cx="58293" cy="1148715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0"/>
          <p:cNvSpPr txBox="1"/>
          <p:nvPr/>
        </p:nvSpPr>
        <p:spPr>
          <a:xfrm>
            <a:off x="4932616" y="2842641"/>
            <a:ext cx="3187256" cy="874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핵심 불변식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화면에 보이는 빈칸은 의도한 구멍뿐이다.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갇힌 칸은 옆 타일이 미끄러져 들어와 메운다 — 실측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99.08%.</a:t>
            </a:r>
            <a:endParaRPr sz="500"/>
          </a:p>
        </p:txBody>
      </p:sp>
      <p:sp>
        <p:nvSpPr>
          <p:cNvPr id="307" name="Google Shape;307;p30"/>
          <p:cNvSpPr/>
          <p:nvPr/>
        </p:nvSpPr>
        <p:spPr>
          <a:xfrm>
            <a:off x="768096" y="4025646"/>
            <a:ext cx="7608951" cy="586359"/>
          </a:xfrm>
          <a:prstGeom prst="roundRect">
            <a:avLst>
              <a:gd fmla="val 7017" name="adj"/>
            </a:avLst>
          </a:prstGeom>
          <a:solidFill>
            <a:srgbClr val="F5F5F5"/>
          </a:solidFill>
          <a:ln cap="flat" cmpd="sng" w="20300">
            <a:solidFill>
              <a:srgbClr val="B8B8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▶ 영상 5초 — 퍼즐 낙하 · 연쇄</a:t>
            </a:r>
            <a:endParaRPr sz="500"/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대각 슬라이드 · 캐스케이드가 한눈에 보인다</a:t>
            </a:r>
            <a:endParaRPr sz="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315" name="Google Shape;315;p31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316" name="Google Shape;316;p31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7" name="Google Shape;317;p31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500"/>
          </a:p>
        </p:txBody>
      </p:sp>
      <p:sp>
        <p:nvSpPr>
          <p:cNvPr id="318" name="Google Shape;318;p31"/>
          <p:cNvSpPr txBox="1"/>
          <p:nvPr/>
        </p:nvSpPr>
        <p:spPr>
          <a:xfrm>
            <a:off x="1443609" y="706374"/>
            <a:ext cx="625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③ 에디터 툴</a:t>
            </a:r>
            <a:endParaRPr sz="500"/>
          </a:p>
        </p:txBody>
      </p:sp>
      <p:cxnSp>
        <p:nvCxnSpPr>
          <p:cNvPr id="319" name="Google Shape;319;p31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0" name="Google Shape;320;p31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기획 · 아트 반복 작업을 코드로 지웠다. 전체 코드의 19%가 툴이다.</a:t>
            </a:r>
            <a:endParaRPr sz="500"/>
          </a:p>
        </p:txBody>
      </p:sp>
      <p:cxnSp>
        <p:nvCxnSpPr>
          <p:cNvPr id="321" name="Google Shape;321;p31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2" name="Google Shape;322;p31"/>
          <p:cNvSpPr/>
          <p:nvPr/>
        </p:nvSpPr>
        <p:spPr>
          <a:xfrm>
            <a:off x="768096" y="1851660"/>
            <a:ext cx="7608951" cy="267462"/>
          </a:xfrm>
          <a:prstGeom prst="roundRect">
            <a:avLst>
              <a:gd fmla="val 11538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956691" y="1851660"/>
            <a:ext cx="1831086" cy="26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툴</a:t>
            </a:r>
            <a:endParaRPr sz="500"/>
          </a:p>
        </p:txBody>
      </p:sp>
      <p:sp>
        <p:nvSpPr>
          <p:cNvPr id="324" name="Google Shape;324;p31"/>
          <p:cNvSpPr txBox="1"/>
          <p:nvPr/>
        </p:nvSpPr>
        <p:spPr>
          <a:xfrm>
            <a:off x="3130677" y="1851660"/>
            <a:ext cx="5092065" cy="26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해결한 것</a:t>
            </a:r>
            <a:endParaRPr sz="500"/>
          </a:p>
        </p:txBody>
      </p:sp>
      <p:sp>
        <p:nvSpPr>
          <p:cNvPr id="325" name="Google Shape;325;p31"/>
          <p:cNvSpPr/>
          <p:nvPr/>
        </p:nvSpPr>
        <p:spPr>
          <a:xfrm>
            <a:off x="768096" y="2160270"/>
            <a:ext cx="7608951" cy="294894"/>
          </a:xfrm>
          <a:prstGeom prst="roundRect">
            <a:avLst>
              <a:gd fmla="val 10465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956691" y="2180844"/>
            <a:ext cx="1831086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채보 에디터</a:t>
            </a:r>
            <a:endParaRPr sz="500"/>
          </a:p>
        </p:txBody>
      </p:sp>
      <p:sp>
        <p:nvSpPr>
          <p:cNvPr id="327" name="Google Shape;327;p31"/>
          <p:cNvSpPr txBox="1"/>
          <p:nvPr/>
        </p:nvSpPr>
        <p:spPr>
          <a:xfrm>
            <a:off x="3130677" y="2180844"/>
            <a:ext cx="5092065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타임라인 클릭 / 드래그 · 스냅(1 · 1/2 · 1/4박) · 예비동작 시각화 · </a:t>
            </a: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▶ 미리듣기</a:t>
            </a:r>
            <a:endParaRPr sz="500"/>
          </a:p>
        </p:txBody>
      </p:sp>
      <p:sp>
        <p:nvSpPr>
          <p:cNvPr id="328" name="Google Shape;328;p31"/>
          <p:cNvSpPr/>
          <p:nvPr/>
        </p:nvSpPr>
        <p:spPr>
          <a:xfrm>
            <a:off x="768096" y="2496312"/>
            <a:ext cx="7608951" cy="294894"/>
          </a:xfrm>
          <a:prstGeom prst="roundRect">
            <a:avLst>
              <a:gd fmla="val 10465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956691" y="2516886"/>
            <a:ext cx="1831086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보드 그리드 에디터</a:t>
            </a:r>
            <a:endParaRPr sz="500"/>
          </a:p>
        </p:txBody>
      </p:sp>
      <p:sp>
        <p:nvSpPr>
          <p:cNvPr id="330" name="Google Shape;330;p31"/>
          <p:cNvSpPr txBox="1"/>
          <p:nvPr/>
        </p:nvSpPr>
        <p:spPr>
          <a:xfrm>
            <a:off x="3130677" y="2516886"/>
            <a:ext cx="5092065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문자열 대신 </a:t>
            </a: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칠하는 격자.</a:t>
            </a: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인스펙터 + 전용 창</a:t>
            </a:r>
            <a:endParaRPr sz="500"/>
          </a:p>
        </p:txBody>
      </p:sp>
      <p:sp>
        <p:nvSpPr>
          <p:cNvPr id="331" name="Google Shape;331;p31"/>
          <p:cNvSpPr/>
          <p:nvPr/>
        </p:nvSpPr>
        <p:spPr>
          <a:xfrm>
            <a:off x="768096" y="2832354"/>
            <a:ext cx="7608951" cy="294894"/>
          </a:xfrm>
          <a:prstGeom prst="roundRect">
            <a:avLst>
              <a:gd fmla="val 10465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956691" y="2852928"/>
            <a:ext cx="1831086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현지화 툴</a:t>
            </a:r>
            <a:endParaRPr sz="500"/>
          </a:p>
        </p:txBody>
      </p:sp>
      <p:sp>
        <p:nvSpPr>
          <p:cNvPr id="333" name="Google Shape;333;p31"/>
          <p:cNvSpPr txBox="1"/>
          <p:nvPr/>
        </p:nvSpPr>
        <p:spPr>
          <a:xfrm>
            <a:off x="3130677" y="2852928"/>
            <a:ext cx="5092065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구글 시트 → CSV 동기화 · </a:t>
            </a: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씬 내 누락 키 검사</a:t>
            </a:r>
            <a:endParaRPr sz="500"/>
          </a:p>
        </p:txBody>
      </p:sp>
      <p:sp>
        <p:nvSpPr>
          <p:cNvPr id="334" name="Google Shape;334;p31"/>
          <p:cNvSpPr/>
          <p:nvPr/>
        </p:nvSpPr>
        <p:spPr>
          <a:xfrm>
            <a:off x="768096" y="3168396"/>
            <a:ext cx="7608951" cy="294894"/>
          </a:xfrm>
          <a:prstGeom prst="roundRect">
            <a:avLst>
              <a:gd fmla="val 10465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956691" y="3188970"/>
            <a:ext cx="1831086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지도 노드 편집</a:t>
            </a:r>
            <a:endParaRPr sz="500"/>
          </a:p>
        </p:txBody>
      </p:sp>
      <p:sp>
        <p:nvSpPr>
          <p:cNvPr id="336" name="Google Shape;336;p31"/>
          <p:cNvSpPr txBox="1"/>
          <p:nvPr/>
        </p:nvSpPr>
        <p:spPr>
          <a:xfrm>
            <a:off x="3130677" y="3188970"/>
            <a:ext cx="5092065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씬 뷰 핸들 드래그 · 테마별 레이아웃 저장 / 불러오기</a:t>
            </a:r>
            <a:endParaRPr sz="500"/>
          </a:p>
        </p:txBody>
      </p:sp>
      <p:sp>
        <p:nvSpPr>
          <p:cNvPr id="337" name="Google Shape;337;p31"/>
          <p:cNvSpPr/>
          <p:nvPr/>
        </p:nvSpPr>
        <p:spPr>
          <a:xfrm>
            <a:off x="768096" y="3566160"/>
            <a:ext cx="7608951" cy="702945"/>
          </a:xfrm>
          <a:prstGeom prst="roundRect">
            <a:avLst>
              <a:gd fmla="val 634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1059561" y="3627882"/>
            <a:ext cx="7026021" cy="579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툴도 데이터 주도다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눌림 스프라이트 배선은 목록을 코드에 적지 않고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이름 규칙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btn_wide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btn_wide_pressed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)으로 찾는다. 아트가 늘어도 툴은 안 고친다.</a:t>
            </a:r>
            <a:endParaRPr sz="500"/>
          </a:p>
          <a:p>
            <a:pPr indent="0" lvl="0" marL="0" marR="0" rtl="0" algn="l">
              <a:lnSpc>
                <a:spcPct val="126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에셋 생성 툴은 빈 슬롯만 채운다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다시 눌러도 손으로 고쳐 둔 값이 안 지워진다. 사람은 반드시 두 번 누른다.</a:t>
            </a:r>
            <a:endParaRPr sz="500"/>
          </a:p>
        </p:txBody>
      </p:sp>
      <p:sp>
        <p:nvSpPr>
          <p:cNvPr id="339" name="Google Shape;339;p31"/>
          <p:cNvSpPr/>
          <p:nvPr/>
        </p:nvSpPr>
        <p:spPr>
          <a:xfrm>
            <a:off x="768096" y="4358259"/>
            <a:ext cx="7608951" cy="253746"/>
          </a:xfrm>
          <a:prstGeom prst="roundRect">
            <a:avLst>
              <a:gd fmla="val 16216" name="adj"/>
            </a:avLst>
          </a:prstGeom>
          <a:solidFill>
            <a:srgbClr val="F5F5F5"/>
          </a:solidFill>
          <a:ln cap="flat" cmpd="sng" w="20300">
            <a:solidFill>
              <a:srgbClr val="B8B8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스크린샷 — 채보 에디터 타임라인</a:t>
            </a:r>
            <a:endParaRPr sz="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2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347" name="Google Shape;347;p32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348" name="Google Shape;348;p32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9" name="Google Shape;349;p32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500"/>
          </a:p>
        </p:txBody>
      </p:sp>
      <p:sp>
        <p:nvSpPr>
          <p:cNvPr id="350" name="Google Shape;350;p32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툴을 만들며 세운 규칙</a:t>
            </a:r>
            <a:endParaRPr sz="500"/>
          </a:p>
        </p:txBody>
      </p:sp>
      <p:cxnSp>
        <p:nvCxnSpPr>
          <p:cNvPr id="351" name="Google Shape;351;p32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2" name="Google Shape;352;p32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계속 쓸 도구여야 하므로, 툴에도 설계가 필요했다.</a:t>
            </a:r>
            <a:endParaRPr sz="500"/>
          </a:p>
        </p:txBody>
      </p:sp>
      <p:cxnSp>
        <p:nvCxnSpPr>
          <p:cNvPr id="353" name="Google Shape;353;p32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4" name="Google Shape;354;p32"/>
          <p:cNvSpPr/>
          <p:nvPr/>
        </p:nvSpPr>
        <p:spPr>
          <a:xfrm>
            <a:off x="768096" y="1851660"/>
            <a:ext cx="7608951" cy="805815"/>
          </a:xfrm>
          <a:prstGeom prst="roundRect">
            <a:avLst>
              <a:gd fmla="val 553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956691" y="1968246"/>
            <a:ext cx="233172" cy="233172"/>
          </a:xfrm>
          <a:prstGeom prst="roundRect">
            <a:avLst>
              <a:gd fmla="val 1470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500"/>
          </a:p>
        </p:txBody>
      </p:sp>
      <p:sp>
        <p:nvSpPr>
          <p:cNvPr id="356" name="Google Shape;356;p32"/>
          <p:cNvSpPr txBox="1"/>
          <p:nvPr/>
        </p:nvSpPr>
        <p:spPr>
          <a:xfrm>
            <a:off x="1265301" y="1947672"/>
            <a:ext cx="6854571" cy="198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미리듣기가 아낀 시간</a:t>
            </a:r>
            <a:endParaRPr sz="500"/>
          </a:p>
        </p:txBody>
      </p:sp>
      <p:sp>
        <p:nvSpPr>
          <p:cNvPr id="357" name="Google Shape;357;p32"/>
          <p:cNvSpPr txBox="1"/>
          <p:nvPr/>
        </p:nvSpPr>
        <p:spPr>
          <a:xfrm>
            <a:off x="1265301" y="2173986"/>
            <a:ext cx="6854571" cy="380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없을 때: 찍기 → 플레이 → 퍼즐 클리어 → 보스전 도달 → 확인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(2~3분)</a:t>
            </a:r>
            <a:endParaRPr sz="500"/>
          </a:p>
          <a:p>
            <a:pPr indent="0" lvl="0" marL="0" marR="0" rtl="0" algn="l">
              <a:lnSpc>
                <a:spcPct val="126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있을 때: 찍기 →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▶ 클릭 (2초).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채보 튜닝은 수십 번 반복하는 일이라 여기서 시간이 가장 많이 샌다.</a:t>
            </a:r>
            <a:endParaRPr sz="500"/>
          </a:p>
        </p:txBody>
      </p:sp>
      <p:sp>
        <p:nvSpPr>
          <p:cNvPr id="358" name="Google Shape;358;p32"/>
          <p:cNvSpPr/>
          <p:nvPr/>
        </p:nvSpPr>
        <p:spPr>
          <a:xfrm>
            <a:off x="768096" y="2760345"/>
            <a:ext cx="7608951" cy="1183005"/>
          </a:xfrm>
          <a:prstGeom prst="roundRect">
            <a:avLst>
              <a:gd fmla="val 376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956691" y="2876931"/>
            <a:ext cx="233172" cy="233172"/>
          </a:xfrm>
          <a:prstGeom prst="roundRect">
            <a:avLst>
              <a:gd fmla="val 1470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500"/>
          </a:p>
        </p:txBody>
      </p:sp>
      <p:sp>
        <p:nvSpPr>
          <p:cNvPr id="360" name="Google Shape;360;p32"/>
          <p:cNvSpPr txBox="1"/>
          <p:nvPr/>
        </p:nvSpPr>
        <p:spPr>
          <a:xfrm>
            <a:off x="1265301" y="2856357"/>
            <a:ext cx="6854571" cy="198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그리는 코드는 한 벌, 편집 상태는 호스트마다</a:t>
            </a:r>
            <a:endParaRPr sz="500"/>
          </a:p>
        </p:txBody>
      </p:sp>
      <p:sp>
        <p:nvSpPr>
          <p:cNvPr id="361" name="Google Shape;361;p32"/>
          <p:cNvSpPr txBox="1"/>
          <p:nvPr/>
        </p:nvSpPr>
        <p:spPr>
          <a:xfrm>
            <a:off x="1265301" y="3082671"/>
            <a:ext cx="6854571" cy="757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보드 편집은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인스펙터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전용 창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두 곳에서 한다(인스펙터는 폭이 좁아 20×20이 잘린다). 그리는 코드를 각자 들면 브러시 하나 늘릴 때 두 곳을 고쳐야 하고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한쪽은 반드시 잊는다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BoardGridGUI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한 벌.</a:t>
            </a:r>
            <a:endParaRPr sz="500"/>
          </a:p>
          <a:p>
            <a:pPr indent="0" lvl="0" marL="0" marR="0" rtl="0" algn="l">
              <a:lnSpc>
                <a:spcPct val="126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반대로 편집 상태를 static으로 두면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둘을 같이 열었을 때 서로 덮어써 드래그가 끊긴다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→ 호스트마다 하나씩.</a:t>
            </a:r>
            <a:endParaRPr sz="500"/>
          </a:p>
          <a:p>
            <a:pPr indent="0" lvl="0" marL="0" marR="0" rtl="0" algn="l">
              <a:lnSpc>
                <a:spcPct val="126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공유할 것(그리는 방법)과 나눌 것(지금 누가 끌고 있는가)을 가르는 것이 툴 코드의 절반이다.</a:t>
            </a:r>
            <a:endParaRPr sz="500"/>
          </a:p>
        </p:txBody>
      </p:sp>
      <p:sp>
        <p:nvSpPr>
          <p:cNvPr id="362" name="Google Shape;362;p32"/>
          <p:cNvSpPr/>
          <p:nvPr/>
        </p:nvSpPr>
        <p:spPr>
          <a:xfrm>
            <a:off x="768096" y="4046220"/>
            <a:ext cx="7608951" cy="565785"/>
          </a:xfrm>
          <a:prstGeom prst="roundRect">
            <a:avLst>
              <a:gd fmla="val 787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956691" y="4162806"/>
            <a:ext cx="233172" cy="233172"/>
          </a:xfrm>
          <a:prstGeom prst="roundRect">
            <a:avLst>
              <a:gd fmla="val 1470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500"/>
          </a:p>
        </p:txBody>
      </p:sp>
      <p:sp>
        <p:nvSpPr>
          <p:cNvPr id="364" name="Google Shape;364;p32"/>
          <p:cNvSpPr txBox="1"/>
          <p:nvPr/>
        </p:nvSpPr>
        <p:spPr>
          <a:xfrm>
            <a:off x="1265301" y="4142232"/>
            <a:ext cx="6854571" cy="198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두 번 돌려도 무해해야 한다</a:t>
            </a:r>
            <a:endParaRPr sz="500"/>
          </a:p>
        </p:txBody>
      </p:sp>
      <p:sp>
        <p:nvSpPr>
          <p:cNvPr id="365" name="Google Shape;365;p32"/>
          <p:cNvSpPr txBox="1"/>
          <p:nvPr/>
        </p:nvSpPr>
        <p:spPr>
          <a:xfrm>
            <a:off x="1265301" y="4368546"/>
            <a:ext cx="6854571" cy="140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일괄 교체 툴이 두 번째 실행에서 껍데기를 한 겹 더 씌운 버그를 겪고,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조상 노드 제외 + 이미 처리된 것 건너뛰기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2중 방어를 넣었다.</a:t>
            </a:r>
            <a:endParaRPr sz="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3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373" name="Google Shape;373;p33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374" name="Google Shape;374;p33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5" name="Google Shape;375;p33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500"/>
          </a:p>
        </p:txBody>
      </p:sp>
      <p:sp>
        <p:nvSpPr>
          <p:cNvPr id="376" name="Google Shape;376;p33"/>
          <p:cNvSpPr txBox="1"/>
          <p:nvPr/>
        </p:nvSpPr>
        <p:spPr>
          <a:xfrm>
            <a:off x="1443609" y="706374"/>
            <a:ext cx="625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④ 현지화</a:t>
            </a:r>
            <a:endParaRPr sz="500"/>
          </a:p>
        </p:txBody>
      </p:sp>
      <p:cxnSp>
        <p:nvCxnSpPr>
          <p:cNvPr id="377" name="Google Shape;377;p33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8" name="Google Shape;378;p33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원천을 한 곳으로 묶으면, 성능 최적화까지 정확해진다.</a:t>
            </a:r>
            <a:endParaRPr sz="500"/>
          </a:p>
        </p:txBody>
      </p:sp>
      <p:cxnSp>
        <p:nvCxnSpPr>
          <p:cNvPr id="379" name="Google Shape;379;p33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0" name="Google Shape;380;p33"/>
          <p:cNvSpPr/>
          <p:nvPr/>
        </p:nvSpPr>
        <p:spPr>
          <a:xfrm>
            <a:off x="768096" y="1851660"/>
            <a:ext cx="2454021" cy="1628775"/>
          </a:xfrm>
          <a:prstGeom prst="roundRect">
            <a:avLst>
              <a:gd fmla="val 273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922401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구조</a:t>
            </a:r>
            <a:endParaRPr sz="500"/>
          </a:p>
        </p:txBody>
      </p:sp>
      <p:sp>
        <p:nvSpPr>
          <p:cNvPr id="382" name="Google Shape;382;p33"/>
          <p:cNvSpPr txBox="1"/>
          <p:nvPr/>
        </p:nvSpPr>
        <p:spPr>
          <a:xfrm>
            <a:off x="922401" y="2287143"/>
            <a:ext cx="214541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CSV 한 장이 원천</a:t>
            </a:r>
            <a:endParaRPr sz="500"/>
          </a:p>
        </p:txBody>
      </p:sp>
      <p:sp>
        <p:nvSpPr>
          <p:cNvPr id="383" name="Google Shape;383;p33"/>
          <p:cNvSpPr txBox="1"/>
          <p:nvPr/>
        </p:nvSpPr>
        <p:spPr>
          <a:xfrm>
            <a:off x="922401" y="2568321"/>
            <a:ext cx="2145411" cy="757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구글 시트 → CSV(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139키 × 2언어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). 코드 · 씬에 문자열 하드코딩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정적 문구는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LocalizedText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바인더 + 키, 동적 문구(HP · 턴)는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Loc.GetText(key, args)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/>
          </a:p>
        </p:txBody>
      </p:sp>
      <p:sp>
        <p:nvSpPr>
          <p:cNvPr id="384" name="Google Shape;384;p33"/>
          <p:cNvSpPr/>
          <p:nvPr/>
        </p:nvSpPr>
        <p:spPr>
          <a:xfrm>
            <a:off x="3345561" y="1851660"/>
            <a:ext cx="2454021" cy="1628775"/>
          </a:xfrm>
          <a:prstGeom prst="roundRect">
            <a:avLst>
              <a:gd fmla="val 273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3499866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함정</a:t>
            </a:r>
            <a:endParaRPr sz="500"/>
          </a:p>
        </p:txBody>
      </p:sp>
      <p:sp>
        <p:nvSpPr>
          <p:cNvPr id="386" name="Google Shape;386;p33"/>
          <p:cNvSpPr txBox="1"/>
          <p:nvPr/>
        </p:nvSpPr>
        <p:spPr>
          <a:xfrm>
            <a:off x="3499866" y="2287143"/>
            <a:ext cx="214541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값이 아니라 키를 바꾼다</a:t>
            </a:r>
            <a:endParaRPr sz="500"/>
          </a:p>
        </p:txBody>
      </p:sp>
      <p:sp>
        <p:nvSpPr>
          <p:cNvPr id="387" name="Google Shape;387;p33"/>
          <p:cNvSpPr txBox="1"/>
          <p:nvPr/>
        </p:nvSpPr>
        <p:spPr>
          <a:xfrm>
            <a:off x="3499866" y="2568321"/>
            <a:ext cx="2145411" cy="757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동적 문구에 바인더를 붙이면 언어 전환 시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코드와 컴포넌트가 서로 덮어쓴다.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같은 칸을 여러 문구가 돌려 쓸 때는 값이 아니라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키를 갈아 끼운다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SetKey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500"/>
          </a:p>
        </p:txBody>
      </p:sp>
      <p:sp>
        <p:nvSpPr>
          <p:cNvPr id="388" name="Google Shape;388;p33"/>
          <p:cNvSpPr/>
          <p:nvPr/>
        </p:nvSpPr>
        <p:spPr>
          <a:xfrm>
            <a:off x="5923026" y="1851660"/>
            <a:ext cx="2454021" cy="1628775"/>
          </a:xfrm>
          <a:prstGeom prst="roundRect">
            <a:avLst>
              <a:gd fmla="val 273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6077331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성능</a:t>
            </a:r>
            <a:endParaRPr sz="500"/>
          </a:p>
        </p:txBody>
      </p:sp>
      <p:sp>
        <p:nvSpPr>
          <p:cNvPr id="390" name="Google Shape;390;p33"/>
          <p:cNvSpPr txBox="1"/>
          <p:nvPr/>
        </p:nvSpPr>
        <p:spPr>
          <a:xfrm>
            <a:off x="6077331" y="2287143"/>
            <a:ext cx="214541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구울 글자를 안다</a:t>
            </a:r>
            <a:endParaRPr sz="500"/>
          </a:p>
        </p:txBody>
      </p:sp>
      <p:sp>
        <p:nvSpPr>
          <p:cNvPr id="391" name="Google Shape;391;p33"/>
          <p:cNvSpPr txBox="1"/>
          <p:nvPr/>
        </p:nvSpPr>
        <p:spPr>
          <a:xfrm>
            <a:off x="6077331" y="2568321"/>
            <a:ext cx="2145411" cy="757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화면 글씨의 원천이 CSV 한 장뿐이라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거기 없는 글자는 게임에도 안 나온다.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실측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343자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(한글 274)를 시작 로딩에서 한 번에 구워 런타임 끊김을 없앴다.</a:t>
            </a:r>
            <a:endParaRPr sz="500"/>
          </a:p>
        </p:txBody>
      </p:sp>
      <p:sp>
        <p:nvSpPr>
          <p:cNvPr id="392" name="Google Shape;392;p33"/>
          <p:cNvSpPr/>
          <p:nvPr/>
        </p:nvSpPr>
        <p:spPr>
          <a:xfrm>
            <a:off x="768096" y="3603879"/>
            <a:ext cx="2435733" cy="1008126"/>
          </a:xfrm>
          <a:prstGeom prst="roundRect">
            <a:avLst>
              <a:gd fmla="val 442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 txBox="1"/>
          <p:nvPr/>
        </p:nvSpPr>
        <p:spPr>
          <a:xfrm>
            <a:off x="870966" y="3706749"/>
            <a:ext cx="2229993" cy="504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139키 × 2언어</a:t>
            </a:r>
            <a:endParaRPr sz="500"/>
          </a:p>
        </p:txBody>
      </p:sp>
      <p:sp>
        <p:nvSpPr>
          <p:cNvPr id="394" name="Google Shape;394;p33"/>
          <p:cNvSpPr txBox="1"/>
          <p:nvPr/>
        </p:nvSpPr>
        <p:spPr>
          <a:xfrm>
            <a:off x="870966" y="4158348"/>
            <a:ext cx="2229993" cy="38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원천 = CSV 한 장</a:t>
            </a:r>
            <a:endParaRPr sz="500"/>
          </a:p>
        </p:txBody>
      </p:sp>
      <p:sp>
        <p:nvSpPr>
          <p:cNvPr id="395" name="Google Shape;395;p33"/>
          <p:cNvSpPr/>
          <p:nvPr/>
        </p:nvSpPr>
        <p:spPr>
          <a:xfrm>
            <a:off x="3354705" y="3603879"/>
            <a:ext cx="2435733" cy="1008126"/>
          </a:xfrm>
          <a:prstGeom prst="roundRect">
            <a:avLst>
              <a:gd fmla="val 442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3457575" y="3706749"/>
            <a:ext cx="2229993" cy="504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500"/>
          </a:p>
        </p:txBody>
      </p:sp>
      <p:sp>
        <p:nvSpPr>
          <p:cNvPr id="397" name="Google Shape;397;p33"/>
          <p:cNvSpPr txBox="1"/>
          <p:nvPr/>
        </p:nvSpPr>
        <p:spPr>
          <a:xfrm>
            <a:off x="3457575" y="4158348"/>
            <a:ext cx="2229993" cy="38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코드 · 씬 하드코딩 문자열</a:t>
            </a:r>
            <a:endParaRPr sz="500"/>
          </a:p>
        </p:txBody>
      </p:sp>
      <p:sp>
        <p:nvSpPr>
          <p:cNvPr id="398" name="Google Shape;398;p33"/>
          <p:cNvSpPr/>
          <p:nvPr/>
        </p:nvSpPr>
        <p:spPr>
          <a:xfrm>
            <a:off x="5941314" y="3603879"/>
            <a:ext cx="2435733" cy="1008126"/>
          </a:xfrm>
          <a:prstGeom prst="roundRect">
            <a:avLst>
              <a:gd fmla="val 442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3"/>
          <p:cNvSpPr txBox="1"/>
          <p:nvPr/>
        </p:nvSpPr>
        <p:spPr>
          <a:xfrm>
            <a:off x="6044184" y="3706749"/>
            <a:ext cx="2229993" cy="504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343자</a:t>
            </a:r>
            <a:endParaRPr sz="500"/>
          </a:p>
        </p:txBody>
      </p:sp>
      <p:sp>
        <p:nvSpPr>
          <p:cNvPr id="400" name="Google Shape;400;p33"/>
          <p:cNvSpPr txBox="1"/>
          <p:nvPr/>
        </p:nvSpPr>
        <p:spPr>
          <a:xfrm>
            <a:off x="6044184" y="4158348"/>
            <a:ext cx="2229993" cy="38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시작 로딩에 미리 굽는 글자</a:t>
            </a:r>
            <a:endParaRPr sz="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4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408" name="Google Shape;408;p34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409" name="Google Shape;409;p34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0" name="Google Shape;410;p34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500"/>
          </a:p>
        </p:txBody>
      </p:sp>
      <p:sp>
        <p:nvSpPr>
          <p:cNvPr id="411" name="Google Shape;411;p34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아키텍처 결정이 3주 뒤에 값을 한 순간</a:t>
            </a:r>
            <a:endParaRPr sz="500"/>
          </a:p>
        </p:txBody>
      </p:sp>
      <p:cxnSp>
        <p:nvCxnSpPr>
          <p:cNvPr id="412" name="Google Shape;412;p34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3" name="Google Shape;413;p34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Core에 UnityEngine이 없어서, 에디터를 켜지 않고 보드 60,000개를 검증할 수 있었다.</a:t>
            </a:r>
            <a:endParaRPr sz="500"/>
          </a:p>
        </p:txBody>
      </p:sp>
      <p:cxnSp>
        <p:nvCxnSpPr>
          <p:cNvPr id="414" name="Google Shape;414;p34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5" name="Google Shape;415;p34"/>
          <p:cNvSpPr/>
          <p:nvPr/>
        </p:nvSpPr>
        <p:spPr>
          <a:xfrm>
            <a:off x="768096" y="1851660"/>
            <a:ext cx="2444877" cy="1903095"/>
          </a:xfrm>
          <a:prstGeom prst="roundRect">
            <a:avLst>
              <a:gd fmla="val 2342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922401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상황</a:t>
            </a:r>
            <a:endParaRPr sz="500"/>
          </a:p>
        </p:txBody>
      </p:sp>
      <p:sp>
        <p:nvSpPr>
          <p:cNvPr id="417" name="Google Shape;417;p34"/>
          <p:cNvSpPr txBox="1"/>
          <p:nvPr/>
        </p:nvSpPr>
        <p:spPr>
          <a:xfrm>
            <a:off x="922401" y="2287143"/>
            <a:ext cx="2136267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불변식이 거짓이었다</a:t>
            </a:r>
            <a:endParaRPr sz="500"/>
          </a:p>
        </p:txBody>
      </p:sp>
      <p:sp>
        <p:nvSpPr>
          <p:cNvPr id="418" name="Google Shape;418;p34"/>
          <p:cNvSpPr txBox="1"/>
          <p:nvPr/>
        </p:nvSpPr>
        <p:spPr>
          <a:xfrm>
            <a:off x="922401" y="2568321"/>
            <a:ext cx="2136267" cy="103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코드 주석은 "벽과 구멍 이외의 모든 칸이 항상 채워진다"고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주장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했고, 비정형 보드 퍼즈를 포함한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테스트 166개가 통과 중이었다.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그런데 실기에서 벽 밑에 빈 칸이 남았다.</a:t>
            </a:r>
            <a:endParaRPr sz="500"/>
          </a:p>
        </p:txBody>
      </p:sp>
      <p:sp>
        <p:nvSpPr>
          <p:cNvPr id="419" name="Google Shape;419;p34"/>
          <p:cNvSpPr/>
          <p:nvPr/>
        </p:nvSpPr>
        <p:spPr>
          <a:xfrm>
            <a:off x="3350133" y="1851660"/>
            <a:ext cx="2444877" cy="1903095"/>
          </a:xfrm>
          <a:prstGeom prst="roundRect">
            <a:avLst>
              <a:gd fmla="val 2342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3504438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방법</a:t>
            </a:r>
            <a:endParaRPr sz="500"/>
          </a:p>
        </p:txBody>
      </p:sp>
      <p:sp>
        <p:nvSpPr>
          <p:cNvPr id="421" name="Google Shape;421;p34"/>
          <p:cNvSpPr txBox="1"/>
          <p:nvPr/>
        </p:nvSpPr>
        <p:spPr>
          <a:xfrm>
            <a:off x="3504438" y="2287143"/>
            <a:ext cx="2136267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Unity 없이 돌린다</a:t>
            </a:r>
            <a:endParaRPr sz="500"/>
          </a:p>
        </p:txBody>
      </p:sp>
      <p:sp>
        <p:nvSpPr>
          <p:cNvPr id="422" name="Google Shape;422;p34"/>
          <p:cNvSpPr txBox="1"/>
          <p:nvPr/>
        </p:nvSpPr>
        <p:spPr>
          <a:xfrm>
            <a:off x="3504438" y="2568321"/>
            <a:ext cx="2136267" cy="103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.csproj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에 Core 소스를 넣는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한 줄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→ Unity 없이 콘솔 앱으로 컴파일.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무작위 보드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60,000개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훑어 반례를 수집했다. 같은 방식으로 테스트도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`dotnet test` 0.3초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완주.</a:t>
            </a:r>
            <a:endParaRPr sz="500"/>
          </a:p>
        </p:txBody>
      </p:sp>
      <p:sp>
        <p:nvSpPr>
          <p:cNvPr id="423" name="Google Shape;423;p34"/>
          <p:cNvSpPr/>
          <p:nvPr/>
        </p:nvSpPr>
        <p:spPr>
          <a:xfrm>
            <a:off x="5932170" y="1851660"/>
            <a:ext cx="2444877" cy="1903095"/>
          </a:xfrm>
          <a:prstGeom prst="roundRect">
            <a:avLst>
              <a:gd fmla="val 2342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6086475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500"/>
          </a:p>
        </p:txBody>
      </p:sp>
      <p:sp>
        <p:nvSpPr>
          <p:cNvPr id="425" name="Google Shape;425;p34"/>
          <p:cNvSpPr txBox="1"/>
          <p:nvPr/>
        </p:nvSpPr>
        <p:spPr>
          <a:xfrm>
            <a:off x="6086475" y="2287143"/>
            <a:ext cx="2136267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퍼즈가 전부 잡았다</a:t>
            </a:r>
            <a:endParaRPr sz="500"/>
          </a:p>
        </p:txBody>
      </p:sp>
      <p:sp>
        <p:nvSpPr>
          <p:cNvPr id="426" name="Google Shape;426;p34"/>
          <p:cNvSpPr txBox="1"/>
          <p:nvPr/>
        </p:nvSpPr>
        <p:spPr>
          <a:xfrm>
            <a:off x="6086475" y="2568321"/>
            <a:ext cx="2136267" cy="103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이번에 나온 버그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3개를 전부 퍼즈가 잡았다.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손으로 짠 테스트 166개는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하나도 못 잡았다.</a:t>
            </a:r>
            <a:endParaRPr sz="500"/>
          </a:p>
        </p:txBody>
      </p:sp>
      <p:sp>
        <p:nvSpPr>
          <p:cNvPr id="427" name="Google Shape;427;p34"/>
          <p:cNvSpPr/>
          <p:nvPr/>
        </p:nvSpPr>
        <p:spPr>
          <a:xfrm>
            <a:off x="768096" y="3891915"/>
            <a:ext cx="7608951" cy="720090"/>
          </a:xfrm>
          <a:prstGeom prst="roundRect">
            <a:avLst>
              <a:gd fmla="val 6190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768096" y="3891915"/>
            <a:ext cx="58293" cy="720090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 txBox="1"/>
          <p:nvPr/>
        </p:nvSpPr>
        <p:spPr>
          <a:xfrm>
            <a:off x="1076706" y="3960495"/>
            <a:ext cx="699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7AB8FF"/>
                </a:solidFill>
                <a:latin typeface="Arial"/>
                <a:ea typeface="Arial"/>
                <a:cs typeface="Arial"/>
                <a:sym typeface="Arial"/>
              </a:rPr>
              <a:t>불변식은 주장이지 보장이 아니다.</a:t>
            </a:r>
            <a:r>
              <a:rPr b="0" i="0" lang="ko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테스트가 있다는 사실이 오히려 안심시켰다.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noEngineReferences</a:t>
            </a:r>
            <a:r>
              <a:rPr b="0" i="0" lang="ko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" sz="9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한 줄이 없었다면 이 반례를 찾을 방법 자체가 없었다.</a:t>
            </a:r>
            <a:endParaRPr sz="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5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5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5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437" name="Google Shape;437;p35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438" name="Google Shape;438;p35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9" name="Google Shape;439;p35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500"/>
          </a:p>
        </p:txBody>
      </p:sp>
      <p:sp>
        <p:nvSpPr>
          <p:cNvPr id="440" name="Google Shape;440;p35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트러블슈팅 대표 3건</a:t>
            </a:r>
            <a:endParaRPr sz="500"/>
          </a:p>
        </p:txBody>
      </p:sp>
      <p:cxnSp>
        <p:nvCxnSpPr>
          <p:cNvPr id="441" name="Google Shape;441;p35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42" name="Google Shape;442;p35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재발하는 버그는 주의가 아니라 코드로 막는다.</a:t>
            </a:r>
            <a:endParaRPr sz="500"/>
          </a:p>
        </p:txBody>
      </p:sp>
      <p:cxnSp>
        <p:nvCxnSpPr>
          <p:cNvPr id="443" name="Google Shape;443;p35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44" name="Google Shape;444;p35"/>
          <p:cNvSpPr/>
          <p:nvPr/>
        </p:nvSpPr>
        <p:spPr>
          <a:xfrm>
            <a:off x="768096" y="1851660"/>
            <a:ext cx="2435733" cy="2760345"/>
          </a:xfrm>
          <a:prstGeom prst="roundRect">
            <a:avLst>
              <a:gd fmla="val 1830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922401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3번 재발</a:t>
            </a:r>
            <a:endParaRPr sz="500"/>
          </a:p>
        </p:txBody>
      </p:sp>
      <p:sp>
        <p:nvSpPr>
          <p:cNvPr id="446" name="Google Shape;446;p35"/>
          <p:cNvSpPr txBox="1"/>
          <p:nvPr/>
        </p:nvSpPr>
        <p:spPr>
          <a:xfrm>
            <a:off x="922401" y="2287143"/>
            <a:ext cx="2127123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게이지가 안 줄어든다</a:t>
            </a:r>
            <a:endParaRPr sz="500"/>
          </a:p>
        </p:txBody>
      </p:sp>
      <p:sp>
        <p:nvSpPr>
          <p:cNvPr id="447" name="Google Shape;447;p35"/>
          <p:cNvSpPr txBox="1"/>
          <p:nvPr/>
        </p:nvSpPr>
        <p:spPr>
          <a:xfrm>
            <a:off x="922401" y="2568321"/>
            <a:ext cx="2127123" cy="1889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Image.type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 </a:t>
            </a:r>
            <a:r>
              <a:rPr b="0" i="0" lang="ko" sz="9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Filled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가 아니면 </a:t>
            </a:r>
            <a:r>
              <a:rPr b="0" i="0" lang="ko" sz="9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fillAmount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가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아무 일도 안 한다.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UI 스프라이트를 꽂을 때 Unity가 9슬라이스를 감지해 </a:t>
            </a:r>
            <a:r>
              <a:rPr b="0" i="0" lang="ko" sz="9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Sliced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되돌려 놓고 있었다.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b="0" i="0" lang="ko" sz="9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Awake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에서 게이지 3종을 강제.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세 번 재발했다는 것은 코드 레벨 방어가 필요했다는 뜻이다.</a:t>
            </a:r>
            <a:endParaRPr sz="500"/>
          </a:p>
        </p:txBody>
      </p:sp>
      <p:sp>
        <p:nvSpPr>
          <p:cNvPr id="448" name="Google Shape;448;p35"/>
          <p:cNvSpPr/>
          <p:nvPr/>
        </p:nvSpPr>
        <p:spPr>
          <a:xfrm>
            <a:off x="3354705" y="1851660"/>
            <a:ext cx="2435733" cy="2760345"/>
          </a:xfrm>
          <a:prstGeom prst="roundRect">
            <a:avLst>
              <a:gd fmla="val 1830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3509010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불변식 위반</a:t>
            </a:r>
            <a:endParaRPr sz="500"/>
          </a:p>
        </p:txBody>
      </p:sp>
      <p:sp>
        <p:nvSpPr>
          <p:cNvPr id="450" name="Google Shape;450;p35"/>
          <p:cNvSpPr txBox="1"/>
          <p:nvPr/>
        </p:nvSpPr>
        <p:spPr>
          <a:xfrm>
            <a:off x="3509010" y="2287143"/>
            <a:ext cx="2127123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벽 밑에 빈 칸</a:t>
            </a:r>
            <a:endParaRPr sz="500"/>
          </a:p>
        </p:txBody>
      </p:sp>
      <p:sp>
        <p:nvSpPr>
          <p:cNvPr id="451" name="Google Shape;451;p35"/>
          <p:cNvSpPr txBox="1"/>
          <p:nvPr/>
        </p:nvSpPr>
        <p:spPr>
          <a:xfrm>
            <a:off x="3509010" y="2568321"/>
            <a:ext cx="2127123" cy="1889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대각 슬라이드는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한 칸짜리 이동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이라 출처가 정확히 대각선 위여야 하는데,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그 자리가 벽 · 보드 밖 · 구멍이면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도달 가능한 타일이 물리적으로 없다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(가장 흔한 경우는 부서진 벽이 남긴 자리).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→ 구멍을 리필 입구까지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걸어 올라가게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해 옆 타일로 메운다.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뷰는 한 줄도 안 고쳤다.</a:t>
            </a:r>
            <a:endParaRPr sz="500"/>
          </a:p>
        </p:txBody>
      </p:sp>
      <p:sp>
        <p:nvSpPr>
          <p:cNvPr id="452" name="Google Shape;452;p35"/>
          <p:cNvSpPr/>
          <p:nvPr/>
        </p:nvSpPr>
        <p:spPr>
          <a:xfrm>
            <a:off x="5941314" y="1851660"/>
            <a:ext cx="2435733" cy="2760345"/>
          </a:xfrm>
          <a:prstGeom prst="roundRect">
            <a:avLst>
              <a:gd fmla="val 1830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5"/>
          <p:cNvSpPr/>
          <p:nvPr/>
        </p:nvSpPr>
        <p:spPr>
          <a:xfrm>
            <a:off x="6095619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확률의 단위</a:t>
            </a:r>
            <a:endParaRPr sz="500"/>
          </a:p>
        </p:txBody>
      </p:sp>
      <p:sp>
        <p:nvSpPr>
          <p:cNvPr id="454" name="Google Shape;454;p35"/>
          <p:cNvSpPr txBox="1"/>
          <p:nvPr/>
        </p:nvSpPr>
        <p:spPr>
          <a:xfrm>
            <a:off x="6095619" y="2287143"/>
            <a:ext cx="2127123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보스 타일이 도배된다</a:t>
            </a:r>
            <a:endParaRPr sz="500"/>
          </a:p>
        </p:txBody>
      </p:sp>
      <p:sp>
        <p:nvSpPr>
          <p:cNvPr id="455" name="Google Shape;455;p35"/>
          <p:cNvSpPr txBox="1"/>
          <p:nvPr/>
        </p:nvSpPr>
        <p:spPr>
          <a:xfrm>
            <a:off x="6095619" y="2568321"/>
            <a:ext cx="2127123" cy="1889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확률이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리필 타일 하나하나에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굴려지고 있었다. 한 웨이브 10칸이면 주사위를 10번 던진다.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"5%"가 실제로는 `1 − 0.95¹⁰ = 40%`였다.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→ 동시 상한 + 웨이브 누적 카운터.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확률은 "무엇 당(per)"인지 같이 적는다.</a:t>
            </a:r>
            <a:endParaRPr sz="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6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6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463" name="Google Shape;463;p36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464" name="Google Shape;464;p36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5" name="Google Shape;465;p36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500"/>
          </a:p>
        </p:txBody>
      </p:sp>
      <p:sp>
        <p:nvSpPr>
          <p:cNvPr id="466" name="Google Shape;466;p36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최적화 &amp; 런타임 안정성</a:t>
            </a:r>
            <a:endParaRPr sz="500"/>
          </a:p>
        </p:txBody>
      </p:sp>
      <p:cxnSp>
        <p:nvCxnSpPr>
          <p:cNvPr id="467" name="Google Shape;467;p36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8" name="Google Shape;468;p36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설정 하나가 게임의 핵심 손맛을 갉아먹고 있었다.</a:t>
            </a:r>
            <a:endParaRPr sz="500"/>
          </a:p>
        </p:txBody>
      </p:sp>
      <p:cxnSp>
        <p:nvCxnSpPr>
          <p:cNvPr id="469" name="Google Shape;469;p36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0" name="Google Shape;470;p36"/>
          <p:cNvSpPr/>
          <p:nvPr/>
        </p:nvSpPr>
        <p:spPr>
          <a:xfrm>
            <a:off x="768096" y="1851660"/>
            <a:ext cx="7608951" cy="702945"/>
          </a:xfrm>
          <a:prstGeom prst="roundRect">
            <a:avLst>
              <a:gd fmla="val 6341" name="adj"/>
            </a:avLst>
          </a:prstGeom>
          <a:solidFill>
            <a:srgbClr val="FDF0E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768096" y="1851660"/>
            <a:ext cx="58293" cy="702945"/>
          </a:xfrm>
          <a:prstGeom prst="rect">
            <a:avLst/>
          </a:prstGeom>
          <a:solidFill>
            <a:srgbClr val="D1362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6"/>
          <p:cNvSpPr txBox="1"/>
          <p:nvPr/>
        </p:nvSpPr>
        <p:spPr>
          <a:xfrm>
            <a:off x="1076706" y="1927098"/>
            <a:ext cx="6991731" cy="55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D1362B"/>
                </a:solidFill>
                <a:latin typeface="Arial"/>
                <a:ea typeface="Arial"/>
                <a:cs typeface="Arial"/>
                <a:sym typeface="Arial"/>
              </a:rPr>
              <a:t>30fps 상한 — 성능만의 문제가 아니었다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아무도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Application.targetFrameRate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안 정했다. 기본값 −1 = 플랫폼 기본값이고 </a:t>
            </a:r>
            <a:r>
              <a:rPr b="0" i="0" lang="ko" sz="800" u="none" cap="none" strike="noStrike">
                <a:solidFill>
                  <a:srgbClr val="D1362B"/>
                </a:solidFill>
                <a:latin typeface="Arial"/>
                <a:ea typeface="Arial"/>
                <a:cs typeface="Arial"/>
                <a:sym typeface="Arial"/>
              </a:rPr>
              <a:t>모바일에서 그건 30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이다.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한 프레임 33ms는 </a:t>
            </a:r>
            <a:r>
              <a:rPr b="0" i="0" lang="ko" sz="800" u="none" cap="none" strike="noStrike">
                <a:solidFill>
                  <a:srgbClr val="D1362B"/>
                </a:solidFill>
                <a:latin typeface="Arial"/>
                <a:ea typeface="Arial"/>
                <a:cs typeface="Arial"/>
                <a:sym typeface="Arial"/>
              </a:rPr>
              <a:t>Lv0 패링 판정 폭(0.25초)의 13%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정확히 눌러도 프레임 경계에 걸려 놓친다. → </a:t>
            </a:r>
            <a:r>
              <a:rPr b="0" i="0" lang="ko" sz="800" u="none" cap="none" strike="noStrike">
                <a:solidFill>
                  <a:srgbClr val="D1362B"/>
                </a:solidFill>
                <a:latin typeface="Arial"/>
                <a:ea typeface="Arial"/>
                <a:cs typeface="Arial"/>
                <a:sym typeface="Arial"/>
              </a:rPr>
              <a:t>60 고정.</a:t>
            </a:r>
            <a:endParaRPr sz="500"/>
          </a:p>
        </p:txBody>
      </p:sp>
      <p:sp>
        <p:nvSpPr>
          <p:cNvPr id="473" name="Google Shape;473;p36"/>
          <p:cNvSpPr/>
          <p:nvPr/>
        </p:nvSpPr>
        <p:spPr>
          <a:xfrm>
            <a:off x="768096" y="2671191"/>
            <a:ext cx="7608951" cy="260604"/>
          </a:xfrm>
          <a:prstGeom prst="roundRect">
            <a:avLst>
              <a:gd fmla="val 11842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6"/>
          <p:cNvSpPr txBox="1"/>
          <p:nvPr/>
        </p:nvSpPr>
        <p:spPr>
          <a:xfrm>
            <a:off x="956691" y="2671191"/>
            <a:ext cx="139628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항목</a:t>
            </a:r>
            <a:endParaRPr sz="500"/>
          </a:p>
        </p:txBody>
      </p:sp>
      <p:sp>
        <p:nvSpPr>
          <p:cNvPr id="475" name="Google Shape;475;p36"/>
          <p:cNvSpPr txBox="1"/>
          <p:nvPr/>
        </p:nvSpPr>
        <p:spPr>
          <a:xfrm>
            <a:off x="2695880" y="2671191"/>
            <a:ext cx="1831086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조치</a:t>
            </a:r>
            <a:endParaRPr sz="500"/>
          </a:p>
        </p:txBody>
      </p:sp>
      <p:sp>
        <p:nvSpPr>
          <p:cNvPr id="476" name="Google Shape;476;p36"/>
          <p:cNvSpPr txBox="1"/>
          <p:nvPr/>
        </p:nvSpPr>
        <p:spPr>
          <a:xfrm>
            <a:off x="4869866" y="2671191"/>
            <a:ext cx="3352876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이유</a:t>
            </a:r>
            <a:endParaRPr sz="500"/>
          </a:p>
        </p:txBody>
      </p:sp>
      <p:sp>
        <p:nvSpPr>
          <p:cNvPr id="477" name="Google Shape;477;p36"/>
          <p:cNvSpPr/>
          <p:nvPr/>
        </p:nvSpPr>
        <p:spPr>
          <a:xfrm>
            <a:off x="768096" y="2972943"/>
            <a:ext cx="7608951" cy="290322"/>
          </a:xfrm>
          <a:prstGeom prst="roundRect">
            <a:avLst>
              <a:gd fmla="val 106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6"/>
          <p:cNvSpPr txBox="1"/>
          <p:nvPr/>
        </p:nvSpPr>
        <p:spPr>
          <a:xfrm>
            <a:off x="956691" y="2993517"/>
            <a:ext cx="1396288" cy="24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BGM 6곡</a:t>
            </a:r>
            <a:endParaRPr sz="500"/>
          </a:p>
        </p:txBody>
      </p:sp>
      <p:sp>
        <p:nvSpPr>
          <p:cNvPr id="479" name="Google Shape;479;p36"/>
          <p:cNvSpPr txBox="1"/>
          <p:nvPr/>
        </p:nvSpPr>
        <p:spPr>
          <a:xfrm>
            <a:off x="2695880" y="2993517"/>
            <a:ext cx="1831086" cy="24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Streaming / Vorbis</a:t>
            </a:r>
            <a:endParaRPr sz="500"/>
          </a:p>
        </p:txBody>
      </p:sp>
      <p:sp>
        <p:nvSpPr>
          <p:cNvPr id="480" name="Google Shape;480;p36"/>
          <p:cNvSpPr txBox="1"/>
          <p:nvPr/>
        </p:nvSpPr>
        <p:spPr>
          <a:xfrm>
            <a:off x="4869866" y="2993517"/>
            <a:ext cx="3352876" cy="24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원본 PCM이 통째로 빌드에 들어가던 것 차단</a:t>
            </a:r>
            <a:endParaRPr sz="500"/>
          </a:p>
        </p:txBody>
      </p:sp>
      <p:sp>
        <p:nvSpPr>
          <p:cNvPr id="481" name="Google Shape;481;p36"/>
          <p:cNvSpPr/>
          <p:nvPr/>
        </p:nvSpPr>
        <p:spPr>
          <a:xfrm>
            <a:off x="768096" y="3304413"/>
            <a:ext cx="7608951" cy="290322"/>
          </a:xfrm>
          <a:prstGeom prst="roundRect">
            <a:avLst>
              <a:gd fmla="val 10629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6"/>
          <p:cNvSpPr txBox="1"/>
          <p:nvPr/>
        </p:nvSpPr>
        <p:spPr>
          <a:xfrm>
            <a:off x="956691" y="3324987"/>
            <a:ext cx="1396288" cy="24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단발 효과음</a:t>
            </a:r>
            <a:endParaRPr sz="500"/>
          </a:p>
        </p:txBody>
      </p:sp>
      <p:sp>
        <p:nvSpPr>
          <p:cNvPr id="483" name="Google Shape;483;p36"/>
          <p:cNvSpPr txBox="1"/>
          <p:nvPr/>
        </p:nvSpPr>
        <p:spPr>
          <a:xfrm>
            <a:off x="2695880" y="3324987"/>
            <a:ext cx="1831086" cy="24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DecompressOnLoad</a:t>
            </a:r>
            <a:endParaRPr sz="500"/>
          </a:p>
        </p:txBody>
      </p:sp>
      <p:sp>
        <p:nvSpPr>
          <p:cNvPr id="484" name="Google Shape;484;p36"/>
          <p:cNvSpPr txBox="1"/>
          <p:nvPr/>
        </p:nvSpPr>
        <p:spPr>
          <a:xfrm>
            <a:off x="4869866" y="3324987"/>
            <a:ext cx="3352876" cy="24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스트리밍하면 </a:t>
            </a: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눌린 뒤에</a:t>
            </a: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소리가 난다</a:t>
            </a:r>
            <a:endParaRPr sz="500"/>
          </a:p>
        </p:txBody>
      </p:sp>
      <p:sp>
        <p:nvSpPr>
          <p:cNvPr id="485" name="Google Shape;485;p36"/>
          <p:cNvSpPr/>
          <p:nvPr/>
        </p:nvSpPr>
        <p:spPr>
          <a:xfrm>
            <a:off x="768096" y="3635883"/>
            <a:ext cx="7608951" cy="290322"/>
          </a:xfrm>
          <a:prstGeom prst="roundRect">
            <a:avLst>
              <a:gd fmla="val 10629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6"/>
          <p:cNvSpPr txBox="1"/>
          <p:nvPr/>
        </p:nvSpPr>
        <p:spPr>
          <a:xfrm>
            <a:off x="956691" y="3656457"/>
            <a:ext cx="1396288" cy="24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도트 스프라이트</a:t>
            </a:r>
            <a:endParaRPr sz="500"/>
          </a:p>
        </p:txBody>
      </p:sp>
      <p:sp>
        <p:nvSpPr>
          <p:cNvPr id="487" name="Google Shape;487;p36"/>
          <p:cNvSpPr txBox="1"/>
          <p:nvPr/>
        </p:nvSpPr>
        <p:spPr>
          <a:xfrm>
            <a:off x="2695880" y="3656457"/>
            <a:ext cx="1831086" cy="24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Point · 무압축 · 밉맵 끔</a:t>
            </a:r>
            <a:endParaRPr sz="500"/>
          </a:p>
        </p:txBody>
      </p:sp>
      <p:sp>
        <p:nvSpPr>
          <p:cNvPr id="488" name="Google Shape;488;p36"/>
          <p:cNvSpPr txBox="1"/>
          <p:nvPr/>
        </p:nvSpPr>
        <p:spPr>
          <a:xfrm>
            <a:off x="4869866" y="3656457"/>
            <a:ext cx="3352876" cy="24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이중선형 필터로 흐려지는 것 방지</a:t>
            </a:r>
            <a:endParaRPr sz="500"/>
          </a:p>
        </p:txBody>
      </p:sp>
      <p:sp>
        <p:nvSpPr>
          <p:cNvPr id="489" name="Google Shape;489;p36"/>
          <p:cNvSpPr/>
          <p:nvPr/>
        </p:nvSpPr>
        <p:spPr>
          <a:xfrm>
            <a:off x="768096" y="4035933"/>
            <a:ext cx="7608951" cy="576072"/>
          </a:xfrm>
          <a:prstGeom prst="roundRect">
            <a:avLst>
              <a:gd fmla="val 773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6"/>
          <p:cNvSpPr txBox="1"/>
          <p:nvPr/>
        </p:nvSpPr>
        <p:spPr>
          <a:xfrm>
            <a:off x="1059561" y="4097655"/>
            <a:ext cx="7026021" cy="45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1인 개발에 특히 필요했던 안정성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널 세이프 슬롯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(클립 · 스프라이트가 비어도 안 멈춘다)  · 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도메인 리로드 OFF 대응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ResetStatics()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 ·  세이브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v1→v2→v3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마이그레이션  ·  정적 서비스 19종이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static class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라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`DontDestroyOnLoad`가 단 2개</a:t>
            </a:r>
            <a:endParaRPr sz="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7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7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7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498" name="Google Shape;498;p37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499" name="Google Shape;499;p37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0" name="Google Shape;500;p37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500"/>
          </a:p>
        </p:txBody>
      </p:sp>
      <p:sp>
        <p:nvSpPr>
          <p:cNvPr id="501" name="Google Shape;501;p37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Work: 정직하게 남은 것</a:t>
            </a:r>
            <a:endParaRPr sz="500"/>
          </a:p>
        </p:txBody>
      </p:sp>
      <p:cxnSp>
        <p:nvCxnSpPr>
          <p:cNvPr id="502" name="Google Shape;502;p37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3" name="Google Shape;503;p37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시스템은 완성했고, 콘텐츠와 검증이 남았다.</a:t>
            </a:r>
            <a:endParaRPr sz="500"/>
          </a:p>
        </p:txBody>
      </p:sp>
      <p:cxnSp>
        <p:nvCxnSpPr>
          <p:cNvPr id="504" name="Google Shape;504;p37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5" name="Google Shape;505;p37"/>
          <p:cNvSpPr/>
          <p:nvPr/>
        </p:nvSpPr>
        <p:spPr>
          <a:xfrm>
            <a:off x="768096" y="1851660"/>
            <a:ext cx="7608951" cy="267462"/>
          </a:xfrm>
          <a:prstGeom prst="roundRect">
            <a:avLst>
              <a:gd fmla="val 11538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7"/>
          <p:cNvSpPr txBox="1"/>
          <p:nvPr/>
        </p:nvSpPr>
        <p:spPr>
          <a:xfrm>
            <a:off x="956691" y="1851660"/>
            <a:ext cx="2048484" cy="26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항목</a:t>
            </a:r>
            <a:endParaRPr sz="500"/>
          </a:p>
        </p:txBody>
      </p:sp>
      <p:sp>
        <p:nvSpPr>
          <p:cNvPr id="507" name="Google Shape;507;p37"/>
          <p:cNvSpPr txBox="1"/>
          <p:nvPr/>
        </p:nvSpPr>
        <p:spPr>
          <a:xfrm>
            <a:off x="3348075" y="1851660"/>
            <a:ext cx="4874666" cy="26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상태</a:t>
            </a:r>
            <a:endParaRPr sz="500"/>
          </a:p>
        </p:txBody>
      </p:sp>
      <p:sp>
        <p:nvSpPr>
          <p:cNvPr id="508" name="Google Shape;508;p37"/>
          <p:cNvSpPr/>
          <p:nvPr/>
        </p:nvSpPr>
        <p:spPr>
          <a:xfrm>
            <a:off x="768096" y="2160270"/>
            <a:ext cx="7608951" cy="316325"/>
          </a:xfrm>
          <a:prstGeom prst="roundRect">
            <a:avLst>
              <a:gd fmla="val 975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7"/>
          <p:cNvSpPr txBox="1"/>
          <p:nvPr/>
        </p:nvSpPr>
        <p:spPr>
          <a:xfrm>
            <a:off x="956691" y="2180844"/>
            <a:ext cx="2048484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튜토리얼 2종</a:t>
            </a:r>
            <a:endParaRPr sz="500"/>
          </a:p>
        </p:txBody>
      </p:sp>
      <p:sp>
        <p:nvSpPr>
          <p:cNvPr id="510" name="Google Shape;510;p37"/>
          <p:cNvSpPr txBox="1"/>
          <p:nvPr/>
        </p:nvSpPr>
        <p:spPr>
          <a:xfrm>
            <a:off x="3348075" y="2180844"/>
            <a:ext cx="4874666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설계 · 구현 완료 — 검증 · 영상 녹화 전이라 </a:t>
            </a: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현재 비활성화</a:t>
            </a:r>
            <a:endParaRPr sz="500"/>
          </a:p>
        </p:txBody>
      </p:sp>
      <p:sp>
        <p:nvSpPr>
          <p:cNvPr id="511" name="Google Shape;511;p37"/>
          <p:cNvSpPr/>
          <p:nvPr/>
        </p:nvSpPr>
        <p:spPr>
          <a:xfrm>
            <a:off x="768096" y="2517743"/>
            <a:ext cx="7608951" cy="316325"/>
          </a:xfrm>
          <a:prstGeom prst="roundRect">
            <a:avLst>
              <a:gd fmla="val 9756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7"/>
          <p:cNvSpPr txBox="1"/>
          <p:nvPr/>
        </p:nvSpPr>
        <p:spPr>
          <a:xfrm>
            <a:off x="956691" y="2538317"/>
            <a:ext cx="2048484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효과음 3종</a:t>
            </a:r>
            <a:endParaRPr sz="500"/>
          </a:p>
        </p:txBody>
      </p:sp>
      <p:sp>
        <p:nvSpPr>
          <p:cNvPr id="513" name="Google Shape;513;p37"/>
          <p:cNvSpPr txBox="1"/>
          <p:nvPr/>
        </p:nvSpPr>
        <p:spPr>
          <a:xfrm>
            <a:off x="3348075" y="2538317"/>
            <a:ext cx="4874666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슬롯 배선 완료, 클립 선정만 남음</a:t>
            </a:r>
            <a:endParaRPr sz="500"/>
          </a:p>
        </p:txBody>
      </p:sp>
      <p:sp>
        <p:nvSpPr>
          <p:cNvPr id="514" name="Google Shape;514;p37"/>
          <p:cNvSpPr/>
          <p:nvPr/>
        </p:nvSpPr>
        <p:spPr>
          <a:xfrm>
            <a:off x="768096" y="2875217"/>
            <a:ext cx="7608951" cy="316325"/>
          </a:xfrm>
          <a:prstGeom prst="roundRect">
            <a:avLst>
              <a:gd fmla="val 975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7"/>
          <p:cNvSpPr txBox="1"/>
          <p:nvPr/>
        </p:nvSpPr>
        <p:spPr>
          <a:xfrm>
            <a:off x="956691" y="2895791"/>
            <a:ext cx="2048484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잡몹 밸런스 수치</a:t>
            </a:r>
            <a:endParaRPr sz="500"/>
          </a:p>
        </p:txBody>
      </p:sp>
      <p:sp>
        <p:nvSpPr>
          <p:cNvPr id="516" name="Google Shape;516;p37"/>
          <p:cNvSpPr txBox="1"/>
          <p:nvPr/>
        </p:nvSpPr>
        <p:spPr>
          <a:xfrm>
            <a:off x="3348075" y="2895791"/>
            <a:ext cx="4874666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시스템 완료, 수치 입력 전 (공용값으로 동작 중)</a:t>
            </a:r>
            <a:endParaRPr sz="500"/>
          </a:p>
        </p:txBody>
      </p:sp>
      <p:sp>
        <p:nvSpPr>
          <p:cNvPr id="517" name="Google Shape;517;p37"/>
          <p:cNvSpPr/>
          <p:nvPr/>
        </p:nvSpPr>
        <p:spPr>
          <a:xfrm>
            <a:off x="768096" y="3232690"/>
            <a:ext cx="7608951" cy="316325"/>
          </a:xfrm>
          <a:prstGeom prst="roundRect">
            <a:avLst>
              <a:gd fmla="val 9756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7"/>
          <p:cNvSpPr txBox="1"/>
          <p:nvPr/>
        </p:nvSpPr>
        <p:spPr>
          <a:xfrm>
            <a:off x="956691" y="3253264"/>
            <a:ext cx="2048484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콘텐츠 볼륨</a:t>
            </a:r>
            <a:endParaRPr sz="500"/>
          </a:p>
        </p:txBody>
      </p:sp>
      <p:sp>
        <p:nvSpPr>
          <p:cNvPr id="519" name="Google Shape;519;p37"/>
          <p:cNvSpPr txBox="1"/>
          <p:nvPr/>
        </p:nvSpPr>
        <p:spPr>
          <a:xfrm>
            <a:off x="3348075" y="3253264"/>
            <a:ext cx="4874666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월드 2개(6판). 시스템은 확장 대비 완료</a:t>
            </a:r>
            <a:endParaRPr sz="500"/>
          </a:p>
        </p:txBody>
      </p:sp>
      <p:sp>
        <p:nvSpPr>
          <p:cNvPr id="520" name="Google Shape;520;p37"/>
          <p:cNvSpPr/>
          <p:nvPr/>
        </p:nvSpPr>
        <p:spPr>
          <a:xfrm>
            <a:off x="768096" y="3651885"/>
            <a:ext cx="7608951" cy="582930"/>
          </a:xfrm>
          <a:prstGeom prst="roundRect">
            <a:avLst>
              <a:gd fmla="val 7647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7"/>
          <p:cNvSpPr txBox="1"/>
          <p:nvPr/>
        </p:nvSpPr>
        <p:spPr>
          <a:xfrm>
            <a:off x="1059561" y="3706749"/>
            <a:ext cx="7026021" cy="473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남은 것이 적은 이유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전부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데이터를 채우는 일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이고 코드를 고칠 일이 아니다. 스테이지 · 캐릭터 · 언어 · 기믹 어느 쪽으로 늘려도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에셋 1개 또는 상속 1개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붙는다.</a:t>
            </a:r>
            <a:endParaRPr sz="500"/>
          </a:p>
        </p:txBody>
      </p:sp>
      <p:sp>
        <p:nvSpPr>
          <p:cNvPr id="522" name="Google Shape;522;p37"/>
          <p:cNvSpPr/>
          <p:nvPr/>
        </p:nvSpPr>
        <p:spPr>
          <a:xfrm>
            <a:off x="768096" y="4323969"/>
            <a:ext cx="7608951" cy="288036"/>
          </a:xfrm>
          <a:prstGeom prst="roundRect">
            <a:avLst>
              <a:gd fmla="val 15476" name="adj"/>
            </a:avLst>
          </a:prstGeom>
          <a:solidFill>
            <a:srgbClr val="ECF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7"/>
          <p:cNvSpPr/>
          <p:nvPr/>
        </p:nvSpPr>
        <p:spPr>
          <a:xfrm>
            <a:off x="768096" y="4323969"/>
            <a:ext cx="58293" cy="288036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7"/>
          <p:cNvSpPr txBox="1"/>
          <p:nvPr/>
        </p:nvSpPr>
        <p:spPr>
          <a:xfrm>
            <a:off x="1059561" y="4399407"/>
            <a:ext cx="702602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튜토리얼이 꺼져 있다는 사실을 먼저 말한다 — 데모 중에 들통나는 것보다 낫다.</a:t>
            </a:r>
            <a:endParaRPr sz="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8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8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8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532" name="Google Shape;532;p38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533" name="Google Shape;533;p38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34" name="Google Shape;534;p38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500"/>
          </a:p>
        </p:txBody>
      </p:sp>
      <p:sp>
        <p:nvSpPr>
          <p:cNvPr id="535" name="Google Shape;535;p38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회고: 가장 크게 배운 것 3가지</a:t>
            </a:r>
            <a:endParaRPr sz="500"/>
          </a:p>
        </p:txBody>
      </p:sp>
      <p:cxnSp>
        <p:nvCxnSpPr>
          <p:cNvPr id="536" name="Google Shape;536;p38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37" name="Google Shape;537;p38"/>
          <p:cNvSpPr/>
          <p:nvPr/>
        </p:nvSpPr>
        <p:spPr>
          <a:xfrm>
            <a:off x="768096" y="1419606"/>
            <a:ext cx="7608951" cy="874395"/>
          </a:xfrm>
          <a:prstGeom prst="roundRect">
            <a:avLst>
              <a:gd fmla="val 509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8"/>
          <p:cNvSpPr/>
          <p:nvPr/>
        </p:nvSpPr>
        <p:spPr>
          <a:xfrm>
            <a:off x="956691" y="1719643"/>
            <a:ext cx="274320" cy="274320"/>
          </a:xfrm>
          <a:prstGeom prst="roundRect">
            <a:avLst>
              <a:gd fmla="val 12500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500"/>
          </a:p>
        </p:txBody>
      </p:sp>
      <p:sp>
        <p:nvSpPr>
          <p:cNvPr id="539" name="Google Shape;539;p38"/>
          <p:cNvSpPr txBox="1"/>
          <p:nvPr/>
        </p:nvSpPr>
        <p:spPr>
          <a:xfrm>
            <a:off x="1333881" y="1522476"/>
            <a:ext cx="6785991" cy="198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아키텍처는 약속이 아니라 강제여야 한다</a:t>
            </a:r>
            <a:endParaRPr sz="500"/>
          </a:p>
        </p:txBody>
      </p:sp>
      <p:sp>
        <p:nvSpPr>
          <p:cNvPr id="540" name="Google Shape;540;p38"/>
          <p:cNvSpPr txBox="1"/>
          <p:nvPr/>
        </p:nvSpPr>
        <p:spPr>
          <a:xfrm>
            <a:off x="1333881" y="1748790"/>
            <a:ext cx="6785991" cy="442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"Core에 Unity를 쓰지 말자"는 지켜지지 않는다. </a:t>
            </a:r>
            <a:r>
              <a:rPr b="0" i="0" lang="ko" sz="9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noEngineReferences: true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한 줄이 그것을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컴파일 에러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만든 순간부터 규칙이 진짜가 됐다. → 그 덕에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10장의 반례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찾았다.</a:t>
            </a:r>
            <a:endParaRPr sz="500"/>
          </a:p>
        </p:txBody>
      </p:sp>
      <p:sp>
        <p:nvSpPr>
          <p:cNvPr id="541" name="Google Shape;541;p38"/>
          <p:cNvSpPr/>
          <p:nvPr/>
        </p:nvSpPr>
        <p:spPr>
          <a:xfrm>
            <a:off x="768096" y="2383155"/>
            <a:ext cx="7608951" cy="874395"/>
          </a:xfrm>
          <a:prstGeom prst="roundRect">
            <a:avLst>
              <a:gd fmla="val 509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8"/>
          <p:cNvSpPr/>
          <p:nvPr/>
        </p:nvSpPr>
        <p:spPr>
          <a:xfrm>
            <a:off x="956691" y="2683192"/>
            <a:ext cx="274320" cy="274320"/>
          </a:xfrm>
          <a:prstGeom prst="roundRect">
            <a:avLst>
              <a:gd fmla="val 12500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500"/>
          </a:p>
        </p:txBody>
      </p:sp>
      <p:sp>
        <p:nvSpPr>
          <p:cNvPr id="543" name="Google Shape;543;p38"/>
          <p:cNvSpPr txBox="1"/>
          <p:nvPr/>
        </p:nvSpPr>
        <p:spPr>
          <a:xfrm>
            <a:off x="1333881" y="2486025"/>
            <a:ext cx="6785991" cy="198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같은 숫자를 두 곳에 적으면 반드시 어긋난다</a:t>
            </a:r>
            <a:endParaRPr sz="500"/>
          </a:p>
        </p:txBody>
      </p:sp>
      <p:sp>
        <p:nvSpPr>
          <p:cNvPr id="544" name="Google Shape;544;p38"/>
          <p:cNvSpPr txBox="1"/>
          <p:nvPr/>
        </p:nvSpPr>
        <p:spPr>
          <a:xfrm>
            <a:off x="1333881" y="2712339"/>
            <a:ext cx="6785991" cy="442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패링 띠(로직 vs 뷰) · 튜토리얼의 밝은 칸과 누를 수 있는 칸 · 지도의 길 두께와 노드 크기 — 전부 같은 원인이었다.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한 곳에서 파생시키면 어긋날 수가 없다.</a:t>
            </a:r>
            <a:endParaRPr sz="500"/>
          </a:p>
        </p:txBody>
      </p:sp>
      <p:sp>
        <p:nvSpPr>
          <p:cNvPr id="545" name="Google Shape;545;p38"/>
          <p:cNvSpPr/>
          <p:nvPr/>
        </p:nvSpPr>
        <p:spPr>
          <a:xfrm>
            <a:off x="768096" y="3346704"/>
            <a:ext cx="7608951" cy="874395"/>
          </a:xfrm>
          <a:prstGeom prst="roundRect">
            <a:avLst>
              <a:gd fmla="val 509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8"/>
          <p:cNvSpPr/>
          <p:nvPr/>
        </p:nvSpPr>
        <p:spPr>
          <a:xfrm>
            <a:off x="956691" y="3646742"/>
            <a:ext cx="274320" cy="274320"/>
          </a:xfrm>
          <a:prstGeom prst="roundRect">
            <a:avLst>
              <a:gd fmla="val 12500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500"/>
          </a:p>
        </p:txBody>
      </p:sp>
      <p:sp>
        <p:nvSpPr>
          <p:cNvPr id="547" name="Google Shape;547;p38"/>
          <p:cNvSpPr txBox="1"/>
          <p:nvPr/>
        </p:nvSpPr>
        <p:spPr>
          <a:xfrm>
            <a:off x="1333881" y="3449574"/>
            <a:ext cx="6785991" cy="198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기획 의도를 코드가 배신하는 지점을 찾는 것이 진짜 일</a:t>
            </a:r>
            <a:endParaRPr sz="500"/>
          </a:p>
        </p:txBody>
      </p:sp>
      <p:sp>
        <p:nvSpPr>
          <p:cNvPr id="548" name="Google Shape;548;p38"/>
          <p:cNvSpPr txBox="1"/>
          <p:nvPr/>
        </p:nvSpPr>
        <p:spPr>
          <a:xfrm>
            <a:off x="1333881" y="3675888"/>
            <a:ext cx="6785991" cy="442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잡몹 위협을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턴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으로 세었더니 가만히 있는 것이 최적해가 됐다 → 실시간으로 변경.</a:t>
            </a:r>
            <a:endParaRPr sz="500"/>
          </a:p>
          <a:p>
            <a:pPr indent="0" lvl="0" marL="0" marR="0" rtl="0" algn="l">
              <a:lnSpc>
                <a:spcPct val="126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소울을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클리어한 판에서 0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으로 했더니 빨리 깬 사람이 손해를 봤다 → 스테이지별 매장량으로.</a:t>
            </a:r>
            <a:endParaRPr sz="500"/>
          </a:p>
        </p:txBody>
      </p:sp>
      <p:sp>
        <p:nvSpPr>
          <p:cNvPr id="549" name="Google Shape;549;p38"/>
          <p:cNvSpPr/>
          <p:nvPr/>
        </p:nvSpPr>
        <p:spPr>
          <a:xfrm>
            <a:off x="768096" y="4310253"/>
            <a:ext cx="7608951" cy="301752"/>
          </a:xfrm>
          <a:prstGeom prst="roundRect">
            <a:avLst>
              <a:gd fmla="val 14772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768096" y="4310253"/>
            <a:ext cx="58293" cy="301752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8"/>
          <p:cNvSpPr txBox="1"/>
          <p:nvPr/>
        </p:nvSpPr>
        <p:spPr>
          <a:xfrm>
            <a:off x="1076706" y="4310253"/>
            <a:ext cx="6991731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돌아가게 만드는 것과 </a:t>
            </a:r>
            <a:r>
              <a:rPr b="0" i="0" lang="ko" sz="1300" u="none" cap="none" strike="noStrike">
                <a:solidFill>
                  <a:srgbClr val="7AB8FF"/>
                </a:solidFill>
                <a:latin typeface="Arial"/>
                <a:ea typeface="Arial"/>
                <a:cs typeface="Arial"/>
                <a:sym typeface="Arial"/>
              </a:rPr>
              <a:t>「의도대로 돌아가게」</a:t>
            </a:r>
            <a:r>
              <a:rPr b="0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만드는 것은 다른 일이었다.</a:t>
            </a:r>
            <a:endParaRPr sz="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