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</p:sldIdLst>
  <p:sldSz cx="24384000" cy="13716000"/>
  <p:notesSz cx="6858000" cy="9144000"/>
  <p:embeddedFontLst>
    <p:embeddedFont>
      <p:font typeface="Pretendard Light"/>
      <p:regular r:id="rId30"/>
    </p:embeddedFont>
    <p:embeddedFont>
      <p:font typeface="Pretendard Bold"/>
      <p:bold r:id="rId31"/>
    </p:embeddedFont>
    <p:embeddedFont>
      <p:font typeface="Pretendard ExtraBold"/>
      <p:bold r:id="rId32"/>
    </p:embeddedFont>
    <p:embeddedFont>
      <p:font typeface="Pretendard SemiBold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4944" y="676656"/>
            <a:ext cx="1014984" cy="12371832"/>
          </a:xfrm>
          <a:prstGeom prst="roundRect">
            <a:avLst>
              <a:gd name="adj" fmla="val 10810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4014215" y="6035040"/>
            <a:ext cx="4800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4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1920240" y="1088136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92224" y="676656"/>
            <a:ext cx="21881592" cy="12371832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551176" y="1271016"/>
            <a:ext cx="18553176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214080" y="969264"/>
            <a:ext cx="1737360" cy="603504"/>
          </a:xfrm>
          <a:prstGeom prst="roundRect">
            <a:avLst>
              <a:gd name="adj" fmla="val 15151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148840"/>
            <a:ext cx="1700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200">
                <a:solidFill>
                  <a:srgbClr val="5C5C5C"/>
                </a:solidFill>
                <a:latin typeface="Pretendard Light"/>
                <a:ea typeface="Pretendard Light"/>
                <a:cs typeface="Pretendard Light"/>
              </a:rPr>
              <a:t>신입 게임 클라이언트 프로그래머 포트폴리오</a:t>
            </a:r>
          </a:p>
        </p:txBody>
      </p:sp>
      <p:sp>
        <p:nvSpPr>
          <p:cNvPr id="9" name="FREE TextBox 8"/>
          <p:cNvSpPr txBox="1"/>
          <p:nvPr/>
        </p:nvSpPr>
        <p:spPr>
          <a:xfrm>
            <a:off x="4023360" y="3822191"/>
            <a:ext cx="1737360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110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ChainRiposte</a:t>
            </a:r>
          </a:p>
        </p:txBody>
      </p:sp>
      <p:sp>
        <p:nvSpPr>
          <p:cNvPr id="10" name="FREE TextBox 9"/>
          <p:cNvSpPr txBox="1"/>
          <p:nvPr/>
        </p:nvSpPr>
        <p:spPr>
          <a:xfrm>
            <a:off x="4023360" y="5559552"/>
            <a:ext cx="1737360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10000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고쳐도 안 무너지는 구조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9144" y="8001000"/>
            <a:ext cx="2624328" cy="0"/>
          </a:xfrm>
          <a:prstGeom prst="line">
            <a:avLst/>
          </a:prstGeom>
          <a:ln w="38100">
            <a:solidFill>
              <a:srgbClr val="00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8641080"/>
            <a:ext cx="4866894" cy="960120"/>
          </a:xfrm>
          <a:prstGeom prst="roundRect">
            <a:avLst>
              <a:gd name="adj" fmla="val 1047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7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Unity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9470" y="8641080"/>
            <a:ext cx="4866894" cy="960120"/>
          </a:xfrm>
          <a:prstGeom prst="roundRect">
            <a:avLst>
              <a:gd name="adj" fmla="val 1047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7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C#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30684" y="8641080"/>
            <a:ext cx="4866894" cy="960120"/>
          </a:xfrm>
          <a:prstGeom prst="roundRect">
            <a:avLst>
              <a:gd name="adj" fmla="val 1047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7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1인 개발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471898" y="8641080"/>
            <a:ext cx="4866894" cy="960120"/>
          </a:xfrm>
          <a:prstGeom prst="roundRect">
            <a:avLst>
              <a:gd name="adj" fmla="val 1047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7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3주 (2026.07.14 ~ 08.03)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42032" y="10561320"/>
            <a:ext cx="20281392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23160" y="11018520"/>
            <a:ext cx="8906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400">
                <a:solidFill>
                  <a:srgbClr val="0073FF"/>
                </a:solidFill>
                <a:latin typeface="Pretendard SemiBold"/>
                <a:ea typeface="Pretendard SemiBold"/>
                <a:cs typeface="Pretendard SemiBold"/>
              </a:rPr>
              <a:t>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1448" y="11585448"/>
            <a:ext cx="8887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2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Unity 퍼즐 + 패링 전투 · 매치3 → 보스전 반복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88952" y="10972800"/>
            <a:ext cx="0" cy="1234440"/>
          </a:xfrm>
          <a:prstGeom prst="line">
            <a:avLst/>
          </a:prstGeom>
          <a:ln w="1524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039344" y="11018520"/>
            <a:ext cx="8906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400">
                <a:solidFill>
                  <a:srgbClr val="0073FF"/>
                </a:solidFill>
                <a:latin typeface="Pretendard SemiBold"/>
                <a:ea typeface="Pretendard SemiBold"/>
                <a:cs typeface="Pretendard SemiBold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57632" y="11585448"/>
            <a:ext cx="8887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2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170파일 / 25,546줄 · 157커밋 · EditMode 테스트 167개 전부 통과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두 장르를 한 자원으로 묶었다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퍼즐은 준비 구간, 보스전은 실력 구간.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48256" y="4937760"/>
            <a:ext cx="202905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100">
                <a:solidFill>
                  <a:srgbClr val="0073FF"/>
                </a:solidFill>
                <a:latin typeface="Pretendard Bold"/>
                <a:ea typeface="Pretendard Bold"/>
                <a:cs typeface="Pretendard Bold"/>
              </a:rPr>
              <a:t>한 판의 흐름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8256" y="5431536"/>
            <a:ext cx="3385108" cy="868680"/>
          </a:xfrm>
          <a:prstGeom prst="roundRect">
            <a:avLst>
              <a:gd name="adj" fmla="val 1157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월드맵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3364" y="5431536"/>
            <a:ext cx="56692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3000">
                <a:solidFill>
                  <a:srgbClr val="0073FF"/>
                </a:solidFill>
                <a:latin typeface="Pretendard Bold"/>
                <a:ea typeface="Pretendard Bold"/>
                <a:cs typeface="Pretendard 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4612" y="5431536"/>
            <a:ext cx="3385108" cy="868680"/>
          </a:xfrm>
          <a:prstGeom prst="roundRect">
            <a:avLst>
              <a:gd name="adj" fmla="val 1157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퍼즐 (매치3)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9721" y="5431536"/>
            <a:ext cx="56692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3000">
                <a:solidFill>
                  <a:srgbClr val="0073FF"/>
                </a:solidFill>
                <a:latin typeface="Pretendard Bold"/>
                <a:ea typeface="Pretendard Bold"/>
                <a:cs typeface="Pretendard Bol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00969" y="5431536"/>
            <a:ext cx="3385108" cy="868680"/>
          </a:xfrm>
          <a:prstGeom prst="roundRect">
            <a:avLst>
              <a:gd name="adj" fmla="val 1157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준비 (스탯 분배)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86078" y="5431536"/>
            <a:ext cx="56692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3000">
                <a:solidFill>
                  <a:srgbClr val="0073FF"/>
                </a:solidFill>
                <a:latin typeface="Pretendard Bold"/>
                <a:ea typeface="Pretendard Bold"/>
                <a:cs typeface="Pretendard Bold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727326" y="5431536"/>
            <a:ext cx="3385108" cy="868680"/>
          </a:xfrm>
          <a:prstGeom prst="roundRect">
            <a:avLst>
              <a:gd name="adj" fmla="val 1157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보스전 (패링)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12435" y="5431536"/>
            <a:ext cx="56692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3000">
                <a:solidFill>
                  <a:srgbClr val="0073FF"/>
                </a:solidFill>
                <a:latin typeface="Pretendard Bold"/>
                <a:ea typeface="Pretendard Bold"/>
                <a:cs typeface="Pretendard 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953683" y="5431536"/>
            <a:ext cx="3385108" cy="868680"/>
          </a:xfrm>
          <a:prstGeom prst="roundRect">
            <a:avLst>
              <a:gd name="adj" fmla="val 11578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다음 고리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48256" y="6611112"/>
            <a:ext cx="9893808" cy="2606040"/>
          </a:xfrm>
          <a:prstGeom prst="roundRect">
            <a:avLst>
              <a:gd name="adj" fmla="val 456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9736" y="7022592"/>
            <a:ext cx="90708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29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퍼즐 → 보스전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9736" y="7772400"/>
            <a:ext cx="9070848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99"/>
              </a:spcAft>
            </a:pPr>
            <a:r>
              <a:rPr b="0" sz="2314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퍼즐에서 캔 소울로 레벨업하고, </a:t>
            </a:r>
            <a:r>
              <a:rPr b="0" sz="2314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퍼즐에서 맞은 HP가 그대로 보스전으로 넘어간다.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444984" y="6611112"/>
            <a:ext cx="9893808" cy="2606040"/>
          </a:xfrm>
          <a:prstGeom prst="roundRect">
            <a:avLst>
              <a:gd name="adj" fmla="val 456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56464" y="7022592"/>
            <a:ext cx="90708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29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성장은 남는다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56464" y="7772400"/>
            <a:ext cx="9070848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99"/>
              </a:spcAft>
            </a:pPr>
            <a:r>
              <a:rPr b="0" sz="2314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죽으면 </a:t>
            </a:r>
            <a:r>
              <a:rPr b="0" sz="2314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사슬만 끊기고 성장은 남는다.</a:t>
            </a:r>
            <a:r>
              <a:rPr b="0" sz="2314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빌드를 잃지 않으므로 다시 도전할 이유가 생긴다.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48256" y="9720072"/>
            <a:ext cx="20290536" cy="1463040"/>
          </a:xfrm>
          <a:prstGeom prst="roundRect">
            <a:avLst>
              <a:gd name="adj" fmla="val 8125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48256" y="9720072"/>
            <a:ext cx="155448" cy="1463040"/>
          </a:xfrm>
          <a:prstGeom prst="rect">
            <a:avLst/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25496" y="9921240"/>
            <a:ext cx="18736056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91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난이도는 </a:t>
            </a:r>
            <a:r>
              <a:rPr b="0" sz="291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실행(패링)</a:t>
            </a:r>
            <a:r>
              <a:rPr b="0" sz="291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에서 오고, 성장은 </a:t>
            </a:r>
            <a:r>
              <a:rPr b="0" sz="291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모서리만 깎는다.</a:t>
            </a:r>
          </a:p>
          <a:p>
            <a:pPr algn="l">
              <a:lnSpc>
                <a:spcPct val="122000"/>
              </a:lnSpc>
              <a:spcBef>
                <a:spcPts val="856"/>
              </a:spcBef>
            </a:pP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성장이 난이도를 지우면 퍼즐이 무의미해지고, 아무것도 안 하면 성장이 무의미해진다.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48256" y="11457432"/>
            <a:ext cx="20290536" cy="841247"/>
          </a:xfrm>
          <a:prstGeom prst="roundRect">
            <a:avLst>
              <a:gd name="adj" fmla="val 13043"/>
            </a:avLst>
          </a:prstGeom>
          <a:solidFill>
            <a:srgbClr val="F5F5F5"/>
          </a:solidFill>
          <a:ln w="20320">
            <a:solidFill>
              <a:srgbClr val="B8B8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600">
                <a:solidFill>
                  <a:srgbClr val="6A6A6A"/>
                </a:solidFill>
                <a:latin typeface="Pretendard Bold"/>
                <a:ea typeface="Pretendard Bold"/>
                <a:cs typeface="Pretendard Bold"/>
              </a:rPr>
              <a:t>스크린샷 — 퍼즐 화면 + 보스전 화면 나란히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의존 방향을 컴파일러가 강제한다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116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noEngineReferences: true</a:t>
            </a: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 한 줄이 「약속」을 「빌드 에러」로 만들었다.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20290536" cy="731520"/>
          </a:xfrm>
          <a:prstGeom prst="roundRect">
            <a:avLst>
              <a:gd name="adj" fmla="val 11249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1176" y="4937760"/>
            <a:ext cx="286383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9413" y="4937760"/>
            <a:ext cx="38433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규모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7194" y="4937760"/>
            <a:ext cx="1084011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무엇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48256" y="5788152"/>
            <a:ext cx="20290536" cy="1083564"/>
          </a:xfrm>
          <a:prstGeom prst="roundRect">
            <a:avLst>
              <a:gd name="adj" fmla="val 7594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51176" y="5843016"/>
            <a:ext cx="2863837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9413" y="5843016"/>
            <a:ext cx="3843380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19파일 / 4,920줄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7194" y="5843016"/>
            <a:ext cx="10840117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채보 · 보드 · 현지화 툴 (커스텀 메뉴 34종)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8256" y="6990588"/>
            <a:ext cx="20290536" cy="1083564"/>
          </a:xfrm>
          <a:prstGeom prst="roundRect">
            <a:avLst>
              <a:gd name="adj" fmla="val 7594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1176" y="7045451"/>
            <a:ext cx="2863837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Game (어댑터)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9413" y="7045451"/>
            <a:ext cx="3843380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74파일 / 12,464줄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7194" y="7045451"/>
            <a:ext cx="10840117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MonoBehaviour · UI · VFX · Audio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8256" y="8193023"/>
            <a:ext cx="20290536" cy="1083564"/>
          </a:xfrm>
          <a:prstGeom prst="roundRect">
            <a:avLst>
              <a:gd name="adj" fmla="val 7594"/>
            </a:avLst>
          </a:prstGeom>
          <a:solidFill>
            <a:srgbClr val="ECF3FF"/>
          </a:solidFill>
          <a:ln w="19050">
            <a:solidFill>
              <a:srgbClr val="00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8247888"/>
            <a:ext cx="2863837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Core (순수 C#)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9413" y="8247888"/>
            <a:ext cx="3843380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59파일 / 5,025줄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7194" y="8247888"/>
            <a:ext cx="10840117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★ </a:t>
            </a:r>
            <a:r>
              <a:rPr b="0" sz="265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UnityEngine 참조 불가 — 컴파일 강제</a:t>
            </a: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48256" y="9395459"/>
            <a:ext cx="20290536" cy="1083564"/>
          </a:xfrm>
          <a:prstGeom prst="roundRect">
            <a:avLst>
              <a:gd name="adj" fmla="val 7594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51176" y="9450324"/>
            <a:ext cx="2863837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Core.Tests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9413" y="9450324"/>
            <a:ext cx="3843380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18파일 / 3,137줄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87194" y="9450324"/>
            <a:ext cx="10840117" cy="973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EditMode 167개 · 에디터 없이 실행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8256" y="10808208"/>
            <a:ext cx="20290536" cy="1490471"/>
          </a:xfrm>
          <a:prstGeom prst="roundRect">
            <a:avLst>
              <a:gd name="adj" fmla="val 7975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25496" y="11009376"/>
            <a:ext cx="18736056" cy="10881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7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왜 규칙을 코드로 강제했나</a:t>
            </a:r>
          </a:p>
          <a:p>
            <a:pPr algn="l">
              <a:lnSpc>
                <a:spcPct val="122000"/>
              </a:lnSpc>
              <a:spcBef>
                <a:spcPts val="770"/>
              </a:spcBef>
            </a:pPr>
            <a:r>
              <a:rPr b="0" sz="2228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"Core에 Unity를 쓰지 말자"는 </a:t>
            </a:r>
            <a:r>
              <a:rPr b="0" sz="2228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지켜지지 않는다.</a:t>
            </a:r>
            <a:r>
              <a:rPr b="0" sz="2228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그것이 컴파일 에러가 된 순간부터 규칙이 진짜가 됐다. → 이 결정이 값을 한 순간은 </a:t>
            </a:r>
            <a:r>
              <a:rPr b="0" sz="2228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10장</a:t>
            </a:r>
            <a:r>
              <a:rPr b="0" sz="2228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에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경계를 넘는 방법이 3가지뿐이다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배선이 전부 같은 패턴을 따르면, 새 기능도 그 패턴에 붙는다.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20290536" cy="11887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51176" y="5202936"/>
            <a:ext cx="2926080" cy="658368"/>
          </a:xfrm>
          <a:prstGeom prst="roundRect">
            <a:avLst>
              <a:gd name="adj" fmla="val 13888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규칙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6" y="5120640"/>
            <a:ext cx="5669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ScriptableObject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6656" y="5120640"/>
            <a:ext cx="96834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391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밸런스 수치는 전부 SO. 코드에 상수로 박힌 밸런스가 </a:t>
            </a:r>
            <a:r>
              <a:rPr b="0" sz="2391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0</a:t>
            </a:r>
            <a:r>
              <a:rPr b="0" sz="2391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이다 (SO 10종).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48256" y="6327648"/>
            <a:ext cx="20290536" cy="11887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51176" y="6592824"/>
            <a:ext cx="2926080" cy="658368"/>
          </a:xfrm>
          <a:prstGeom prst="roundRect">
            <a:avLst>
              <a:gd name="adj" fmla="val 13888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규칙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6510528"/>
            <a:ext cx="5669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Func&lt;&gt; 로 감싼다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06656" y="6510528"/>
            <a:ext cx="96834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AnimationCurve</a:t>
            </a:r>
            <a:r>
              <a:rPr b="0" sz="2157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→ </a:t>
            </a: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Func&lt;float,float&gt;</a:t>
            </a:r>
            <a:r>
              <a:rPr b="0" sz="2157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. Core는 커브를 "값을 돌려주는 함수"로만 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8256" y="7717536"/>
            <a:ext cx="20290536" cy="11887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51176" y="7982712"/>
            <a:ext cx="2926080" cy="658368"/>
          </a:xfrm>
          <a:prstGeom prst="roundRect">
            <a:avLst>
              <a:gd name="adj" fmla="val 13888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규칙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7900416"/>
            <a:ext cx="5669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C# event 25종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06656" y="7900416"/>
            <a:ext cx="96834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Core는 이벤트로만 말한다. </a:t>
            </a:r>
            <a:r>
              <a:rPr b="0" sz="265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역방향 참조 없이</a:t>
            </a: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화면이 반응한다.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8256" y="9180576"/>
            <a:ext cx="20290536" cy="1691640"/>
          </a:xfrm>
          <a:prstGeom prst="roundRect">
            <a:avLst>
              <a:gd name="adj" fmla="val 7027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48256" y="9180576"/>
            <a:ext cx="155448" cy="1691640"/>
          </a:xfrm>
          <a:prstGeom prst="rect">
            <a:avLst/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25496" y="9381744"/>
            <a:ext cx="18736056" cy="1289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7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코드에 고유명사를 적지 않는다</a:t>
            </a:r>
          </a:p>
          <a:p>
            <a:pPr algn="l">
              <a:lnSpc>
                <a:spcPct val="122000"/>
              </a:lnSpc>
              <a:spcBef>
                <a:spcPts val="856"/>
              </a:spcBef>
            </a:pP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if (stageName == "2-1")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같은 코드가 없다. 난이도도 표가 아니라 </a:t>
            </a:r>
            <a:r>
              <a:rPr b="0" sz="214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고리 깊이 × 증가율로 계산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한다 — 표였다면 갱신을 잊어 </a:t>
            </a:r>
            <a:r>
              <a:rPr b="0" sz="214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새 판만 조용히 물렁해진다.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48256" y="11128248"/>
            <a:ext cx="20290536" cy="1170431"/>
          </a:xfrm>
          <a:prstGeom prst="roundRect">
            <a:avLst>
              <a:gd name="adj" fmla="val 1015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51176" y="11384280"/>
            <a:ext cx="3108960" cy="658368"/>
          </a:xfrm>
          <a:prstGeom prst="roundRect">
            <a:avLst>
              <a:gd name="adj" fmla="val 13888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확장 비용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5" y="11311128"/>
            <a:ext cx="4937760" cy="8046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붙이는 값이 1개다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58016" y="11311128"/>
            <a:ext cx="10232135" cy="8046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157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스테이지 = 에셋 1개  ·  캐릭터 = 에셋 1개  ·  기믹 = </a:t>
            </a: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StageGimmick</a:t>
            </a:r>
            <a:r>
              <a:rPr b="0" sz="2157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상속 1개  ·  언어 = CSV 열 1개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5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어필 기술 ① 리듬 패링 전투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프레임레이트와 무관하게, 같은 입력이면 같은 결과가 나온다.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6544056" cy="4206240"/>
          </a:xfrm>
          <a:prstGeom prst="roundRect">
            <a:avLst>
              <a:gd name="adj" fmla="val 282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9736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채보 기반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6099048"/>
            <a:ext cx="57210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박(beat) 단위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9736" y="6848856"/>
            <a:ext cx="5721096" cy="188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69"/>
              </a:spcAft>
            </a:pP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보스 공격을 타격 시점 · 예비동작 길이 · 피해 배율로 찍는다.</a:t>
            </a:r>
          </a:p>
          <a:p>
            <a:pPr algn="l">
              <a:lnSpc>
                <a:spcPct val="130000"/>
              </a:lnSpc>
              <a:spcAft>
                <a:spcPts val="569"/>
              </a:spcAft>
            </a:pPr>
            <a:r>
              <a:rPr b="0" sz="211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연속기는 별도 타입이 아니다</a:t>
            </a: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— 노트를 촘촘히 찍으면 그게 연속기다.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1496" y="4937760"/>
            <a:ext cx="6544056" cy="4206240"/>
          </a:xfrm>
          <a:prstGeom prst="roundRect">
            <a:avLst>
              <a:gd name="adj" fmla="val 282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32976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판정 = 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2976" y="6099048"/>
            <a:ext cx="57210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보이는 것이 곧 판정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2976" y="6848856"/>
            <a:ext cx="5721096" cy="188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69"/>
              </a:spcAft>
            </a:pP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다가오는 흰 원의 </a:t>
            </a:r>
            <a:r>
              <a:rPr b="0" sz="211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안쪽 테두리</a:t>
            </a: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가 노트의 위치이고, 회색 띠의 두께가 </a:t>
            </a:r>
            <a:r>
              <a:rPr b="0" sz="211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판정 폭 그 자체</a:t>
            </a: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다.</a:t>
            </a:r>
          </a:p>
          <a:p>
            <a:pPr algn="l">
              <a:lnSpc>
                <a:spcPct val="130000"/>
              </a:lnSpc>
              <a:spcAft>
                <a:spcPts val="569"/>
              </a:spcAft>
            </a:pP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로직과 뷰가 같은 수치에서 파생되므로 어긋날 수 없다.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94736" y="4937760"/>
            <a:ext cx="6544056" cy="4206240"/>
          </a:xfrm>
          <a:prstGeom prst="roundRect">
            <a:avLst>
              <a:gd name="adj" fmla="val 282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206216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결정적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6216" y="6099048"/>
            <a:ext cx="57210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경계까지만 진행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06216" y="6848856"/>
            <a:ext cx="5721096" cy="188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69"/>
              </a:spcAft>
            </a:pP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프레임 단위로 흘리지 않고 </a:t>
            </a:r>
            <a:r>
              <a:rPr b="0" sz="211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다음 상태 경계</a:t>
            </a: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(타격 시점 · 윈도우 만료)까지만 진행한다.</a:t>
            </a:r>
          </a:p>
          <a:p>
            <a:pPr algn="l">
              <a:lnSpc>
                <a:spcPct val="130000"/>
              </a:lnSpc>
              <a:spcAft>
                <a:spcPts val="569"/>
              </a:spcAft>
            </a:pP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→ 엔진 없이 순수 C#으로 </a:t>
            </a:r>
            <a:r>
              <a:rPr b="0" sz="211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전투 전체를 테스트</a:t>
            </a:r>
            <a:r>
              <a:rPr b="0" sz="211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8256" y="9473184"/>
            <a:ext cx="20290536" cy="1280160"/>
          </a:xfrm>
          <a:prstGeom prst="roundRect">
            <a:avLst>
              <a:gd name="adj" fmla="val 9285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48256" y="9473184"/>
            <a:ext cx="155448" cy="1280160"/>
          </a:xfrm>
          <a:prstGeom prst="rect">
            <a:avLst/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25496" y="9674352"/>
            <a:ext cx="18736056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2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PARRY 스탯을 올리면 띠가 </a:t>
            </a:r>
            <a:r>
              <a:rPr b="0" sz="32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눈에 띄게 굵어진다.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48256" y="11027664"/>
            <a:ext cx="20290536" cy="1271015"/>
          </a:xfrm>
          <a:prstGeom prst="roundRect">
            <a:avLst>
              <a:gd name="adj" fmla="val 8633"/>
            </a:avLst>
          </a:prstGeom>
          <a:solidFill>
            <a:srgbClr val="F5F5F5"/>
          </a:solidFill>
          <a:ln w="20320">
            <a:solidFill>
              <a:srgbClr val="B8B8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600">
                <a:solidFill>
                  <a:srgbClr val="6A6A6A"/>
                </a:solidFill>
                <a:latin typeface="Pretendard Bold"/>
                <a:ea typeface="Pretendard Bold"/>
                <a:cs typeface="Pretendard Bold"/>
              </a:rPr>
              <a:t>▶ 영상 5초 — 패링 판정 링</a:t>
            </a:r>
          </a:p>
          <a:p>
            <a:pPr algn="ctr">
              <a:lnSpc>
                <a:spcPct val="115000"/>
              </a:lnSpc>
              <a:spcBef>
                <a:spcPts val="700"/>
              </a:spcBef>
            </a:pPr>
            <a:r>
              <a:rPr b="0" sz="2100">
                <a:solidFill>
                  <a:srgbClr val="999999"/>
                </a:solidFill>
                <a:latin typeface="Pretendard Light"/>
                <a:ea typeface="Pretendard Light"/>
                <a:cs typeface="Pretendard Light"/>
              </a:rPr>
              <a:t>정지 이미지로는 설명이 안 된다 · 인살 컷씬도 함께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6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어필 기술 ② 퍼즐 엔진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모델은 완결된 결과를 한 번에 내고, 뷰는 그 기록을 재생만 한다.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20290536" cy="1965960"/>
          </a:xfrm>
          <a:prstGeom prst="roundRect">
            <a:avLst>
              <a:gd name="adj" fmla="val 604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88336" y="5230368"/>
            <a:ext cx="57607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2860">
            <a:solidFill>
              <a:srgbClr val="00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5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PuzzleEngine.Swap(a,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5230368"/>
            <a:ext cx="1051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3200">
                <a:solidFill>
                  <a:srgbClr val="0073FF"/>
                </a:solidFill>
                <a:latin typeface="Pretendard Bold"/>
                <a:ea typeface="Pretendard Bold"/>
                <a:cs typeface="Pretendard 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0616" y="5230368"/>
            <a:ext cx="5760720" cy="1005840"/>
          </a:xfrm>
          <a:prstGeom prst="roundRect">
            <a:avLst>
              <a:gd name="adj" fmla="val 9090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SwapResult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61336" y="5230368"/>
            <a:ext cx="1051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3200">
                <a:solidFill>
                  <a:srgbClr val="0073FF"/>
                </a:solidFill>
                <a:latin typeface="Pretendard Bold"/>
                <a:ea typeface="Pretendard Bold"/>
                <a:cs typeface="Pretendard Bol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312896" y="5230368"/>
            <a:ext cx="57607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2860">
            <a:solidFill>
              <a:srgbClr val="00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5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BoardView 재생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6327648"/>
            <a:ext cx="19010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375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SwapResult</a:t>
            </a: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= 캐스케이드 · 낙하 · 기믹이 전부 담긴 완결 기록. 연출이 도는 </a:t>
            </a:r>
            <a:r>
              <a:rPr b="0" sz="2375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중에도 모델은 이미 최종 상태</a:t>
            </a: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48256" y="7214616"/>
            <a:ext cx="9916668" cy="3063240"/>
          </a:xfrm>
          <a:prstGeom prst="roundRect">
            <a:avLst>
              <a:gd name="adj" fmla="val 388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9736" y="7626096"/>
            <a:ext cx="90937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5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비정형 보드를 버티는 규칙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9736" y="8375904"/>
            <a:ext cx="909370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99"/>
              </a:spcAft>
            </a:pP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하트 · 해골 모양 보드 · 중력 + 대각 슬라이드 · </a:t>
            </a:r>
            <a:r>
              <a:rPr b="0" sz="214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데드락 검출 후 턴 미소모 리롤</a:t>
            </a:r>
          </a:p>
          <a:p>
            <a:pPr algn="l">
              <a:lnSpc>
                <a:spcPct val="130000"/>
              </a:lnSpc>
              <a:spcAft>
                <a:spcPts val="599"/>
              </a:spcAft>
            </a:pP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매치 없는 스왑은 턴을 안 먹으므로, 수가 없으면 게임이 그냥 멈춘다.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422124" y="7214616"/>
            <a:ext cx="9916668" cy="3063240"/>
          </a:xfrm>
          <a:prstGeom prst="roundRect">
            <a:avLst>
              <a:gd name="adj" fmla="val 3880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422124" y="7214616"/>
            <a:ext cx="155448" cy="3063240"/>
          </a:xfrm>
          <a:prstGeom prst="rect">
            <a:avLst/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53644" y="7580376"/>
            <a:ext cx="8499348" cy="2331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300">
                <a:solidFill>
                  <a:srgbClr val="0073FF"/>
                </a:solidFill>
                <a:latin typeface="Pretendard Bold"/>
                <a:ea typeface="Pretendard Bold"/>
                <a:cs typeface="Pretendard Bold"/>
              </a:rPr>
              <a:t>핵심 불변식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b="0" sz="33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화면에 보이는 빈칸은 </a:t>
            </a:r>
            <a:r>
              <a:rPr b="0" sz="33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의도한 구멍뿐</a:t>
            </a:r>
            <a:r>
              <a:rPr b="0" sz="33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이다.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갇힌 칸은 옆 타일이 미끄러져 들어와 메운다 — 실측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99.08%.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48256" y="10735056"/>
            <a:ext cx="20290536" cy="1563623"/>
          </a:xfrm>
          <a:prstGeom prst="roundRect">
            <a:avLst>
              <a:gd name="adj" fmla="val 7017"/>
            </a:avLst>
          </a:prstGeom>
          <a:solidFill>
            <a:srgbClr val="F5F5F5"/>
          </a:solidFill>
          <a:ln w="20320">
            <a:solidFill>
              <a:srgbClr val="B8B8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600">
                <a:solidFill>
                  <a:srgbClr val="6A6A6A"/>
                </a:solidFill>
                <a:latin typeface="Pretendard Bold"/>
                <a:ea typeface="Pretendard Bold"/>
                <a:cs typeface="Pretendard Bold"/>
              </a:rPr>
              <a:t>▶ 영상 5초 — 퍼즐 낙하 · 연쇄</a:t>
            </a:r>
          </a:p>
          <a:p>
            <a:pPr algn="ctr">
              <a:lnSpc>
                <a:spcPct val="115000"/>
              </a:lnSpc>
              <a:spcBef>
                <a:spcPts val="700"/>
              </a:spcBef>
            </a:pPr>
            <a:r>
              <a:rPr b="0" sz="2100">
                <a:solidFill>
                  <a:srgbClr val="999999"/>
                </a:solidFill>
                <a:latin typeface="Pretendard Light"/>
                <a:ea typeface="Pretendard Light"/>
                <a:cs typeface="Pretendard Light"/>
              </a:rPr>
              <a:t>대각 슬라이드 · 캐스케이드가 한눈에 보인다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7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어필 기술 ③ 에디터 툴 34종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기획 · 아트 반복 작업을 코드로 지웠다. 전체 코드의 19%가 툴이다.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20290536" cy="713232"/>
          </a:xfrm>
          <a:prstGeom prst="roundRect">
            <a:avLst>
              <a:gd name="adj" fmla="val 11538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1176" y="4937760"/>
            <a:ext cx="488289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4937760"/>
            <a:ext cx="1357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해결한 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8256" y="5760720"/>
            <a:ext cx="20290536" cy="786384"/>
          </a:xfrm>
          <a:prstGeom prst="roundRect">
            <a:avLst>
              <a:gd name="adj" fmla="val 10465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5815584"/>
            <a:ext cx="488289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채보 에디터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5815584"/>
            <a:ext cx="13578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타임라인 클릭 / 드래그 · 스냅(1 · 1/2 · 1/4박) · 예비동작 시각화 · </a:t>
            </a:r>
            <a:r>
              <a:rPr b="0" sz="26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▶ 미리듣기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48256" y="6656832"/>
            <a:ext cx="20290536" cy="786384"/>
          </a:xfrm>
          <a:prstGeom prst="roundRect">
            <a:avLst>
              <a:gd name="adj" fmla="val 1046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51176" y="6711696"/>
            <a:ext cx="488289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보드 그리드 에디터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6711696"/>
            <a:ext cx="13578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문자열 대신 </a:t>
            </a:r>
            <a:r>
              <a:rPr b="0" sz="26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칠하는 격자.</a:t>
            </a:r>
            <a:r>
              <a:rPr b="0" sz="26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인스펙터 + 전용 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48256" y="7552944"/>
            <a:ext cx="20290536" cy="786384"/>
          </a:xfrm>
          <a:prstGeom prst="roundRect">
            <a:avLst>
              <a:gd name="adj" fmla="val 10465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1176" y="7607808"/>
            <a:ext cx="488289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현지화 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7607808"/>
            <a:ext cx="13578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구글 시트 → CSV 동기화 · </a:t>
            </a:r>
            <a:r>
              <a:rPr b="0" sz="26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씬 내 누락 키 검사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8256" y="8449056"/>
            <a:ext cx="20290536" cy="786384"/>
          </a:xfrm>
          <a:prstGeom prst="roundRect">
            <a:avLst>
              <a:gd name="adj" fmla="val 1046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8503920"/>
            <a:ext cx="488289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지도 노드 편집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8503920"/>
            <a:ext cx="13578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씬 뷰 핸들 드래그 · 테마별 레이아웃 저장 / 불러오기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48256" y="9509760"/>
            <a:ext cx="20290536" cy="1874519"/>
          </a:xfrm>
          <a:prstGeom prst="roundRect">
            <a:avLst>
              <a:gd name="adj" fmla="val 634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25496" y="9674352"/>
            <a:ext cx="18736056" cy="1545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75"/>
              </a:spcAft>
            </a:pPr>
            <a:r>
              <a:rPr b="0" sz="2375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툴도 데이터 주도다</a:t>
            </a: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— 눌림 스프라이트 배선은 목록을 코드에 적지 않고 </a:t>
            </a:r>
            <a:r>
              <a:rPr b="0" sz="2375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이름 규칙</a:t>
            </a: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b="0" sz="2185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btn_wide</a:t>
            </a: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→ </a:t>
            </a:r>
            <a:r>
              <a:rPr b="0" sz="2185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btn_wide_pressed</a:t>
            </a: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)으로 찾는다. 아트가 늘어도 툴은 안 고친다.</a:t>
            </a:r>
          </a:p>
          <a:p>
            <a:pPr algn="l">
              <a:lnSpc>
                <a:spcPct val="126000"/>
              </a:lnSpc>
              <a:spcAft>
                <a:spcPts val="475"/>
              </a:spcAft>
            </a:pPr>
            <a:r>
              <a:rPr b="0" sz="2375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에셋 생성 툴은 빈 슬롯만 채운다</a:t>
            </a: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— 다시 눌러도 손으로 고쳐 둔 값이 안 지워진다. 사람은 반드시 두 번 누른다.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48256" y="11622024"/>
            <a:ext cx="20290536" cy="676655"/>
          </a:xfrm>
          <a:prstGeom prst="roundRect">
            <a:avLst>
              <a:gd name="adj" fmla="val 16216"/>
            </a:avLst>
          </a:prstGeom>
          <a:solidFill>
            <a:srgbClr val="F5F5F5"/>
          </a:solidFill>
          <a:ln w="20320">
            <a:solidFill>
              <a:srgbClr val="B8B8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600">
                <a:solidFill>
                  <a:srgbClr val="6A6A6A"/>
                </a:solidFill>
                <a:latin typeface="Pretendard Bold"/>
                <a:ea typeface="Pretendard Bold"/>
                <a:cs typeface="Pretendard Bold"/>
              </a:rPr>
              <a:t>스크린샷 — 채보 에디터 타임라인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8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툴을 만들며 세운 규칙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계속 쓸 도구여야 하므로, 툴에도 설계가 필요했다.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20290536" cy="2148840"/>
          </a:xfrm>
          <a:prstGeom prst="roundRect">
            <a:avLst>
              <a:gd name="adj" fmla="val 553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51176" y="5248656"/>
            <a:ext cx="621792" cy="621792"/>
          </a:xfrm>
          <a:prstGeom prst="roundRect">
            <a:avLst>
              <a:gd name="adj" fmla="val 1470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5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5193792"/>
            <a:ext cx="1827885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8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미리듣기가 아낀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5797296"/>
            <a:ext cx="18278856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40"/>
              </a:spcAft>
            </a:pPr>
            <a:r>
              <a:rPr b="0" sz="225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없을 때: 찍기 → 플레이 → 퍼즐 클리어 → 보스전 도달 → 확인 </a:t>
            </a:r>
            <a:r>
              <a:rPr b="0" sz="225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(2~3분)</a:t>
            </a:r>
          </a:p>
          <a:p>
            <a:pPr algn="l">
              <a:lnSpc>
                <a:spcPct val="126000"/>
              </a:lnSpc>
              <a:spcAft>
                <a:spcPts val="540"/>
              </a:spcAft>
            </a:pPr>
            <a:r>
              <a:rPr b="0" sz="225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있을 때: 찍기 → </a:t>
            </a:r>
            <a:r>
              <a:rPr b="0" sz="225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▶ 클릭 (2초).</a:t>
            </a:r>
            <a:r>
              <a:rPr b="0" sz="225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채보 튜닝은 수십 번 반복하는 일이라 여기서 시간이 가장 많이 샌다.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48256" y="7360920"/>
            <a:ext cx="20290536" cy="3154680"/>
          </a:xfrm>
          <a:prstGeom prst="roundRect">
            <a:avLst>
              <a:gd name="adj" fmla="val 376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51176" y="7671816"/>
            <a:ext cx="621792" cy="621792"/>
          </a:xfrm>
          <a:prstGeom prst="roundRect">
            <a:avLst>
              <a:gd name="adj" fmla="val 1470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5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7616952"/>
            <a:ext cx="1827885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8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그리는 코드는 한 벌, 편집 상태는 호스트마다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8220456"/>
            <a:ext cx="18278856" cy="2020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13"/>
              </a:spcAft>
            </a:pP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보드 편집은 </a:t>
            </a:r>
            <a:r>
              <a:rPr b="0" sz="214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인스펙터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와 </a:t>
            </a:r>
            <a:r>
              <a:rPr b="0" sz="214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전용 창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두 곳에서 한다(인스펙터는 폭이 좁아 20×20이 잘린다). 그리는 코드를 각자 들면 브러시 하나 늘릴 때 두 곳을 고쳐야 하고 </a:t>
            </a:r>
            <a:r>
              <a:rPr b="0" sz="214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한쪽은 반드시 잊는다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→ </a:t>
            </a: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BoardGridGUI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한 벌.</a:t>
            </a:r>
          </a:p>
          <a:p>
            <a:pPr algn="l">
              <a:lnSpc>
                <a:spcPct val="126000"/>
              </a:lnSpc>
              <a:spcAft>
                <a:spcPts val="513"/>
              </a:spcAft>
            </a:pP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반대로 편집 상태를 static으로 두면 </a:t>
            </a:r>
            <a:r>
              <a:rPr b="0" sz="2143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둘을 같이 열었을 때 서로 덮어써 드래그가 끊긴다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→ 호스트마다 하나씩.</a:t>
            </a:r>
          </a:p>
          <a:p>
            <a:pPr algn="l">
              <a:lnSpc>
                <a:spcPct val="126000"/>
              </a:lnSpc>
              <a:spcBef>
                <a:spcPts val="685"/>
              </a:spcBef>
              <a:spcAft>
                <a:spcPts val="513"/>
              </a:spcAft>
            </a:pPr>
            <a:r>
              <a:rPr b="0" sz="2228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공유할 것(그리는 방법)과 나눌 것(지금 누가 끌고 있는가)을 가르는 것이 툴 코드의 절반이다.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8256" y="10789920"/>
            <a:ext cx="20290536" cy="1508759"/>
          </a:xfrm>
          <a:prstGeom prst="roundRect">
            <a:avLst>
              <a:gd name="adj" fmla="val 787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51176" y="11100816"/>
            <a:ext cx="621792" cy="621792"/>
          </a:xfrm>
          <a:prstGeom prst="roundRect">
            <a:avLst>
              <a:gd name="adj" fmla="val 1470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5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11045952"/>
            <a:ext cx="1827885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8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두 번 돌려도 무해해야 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11649456"/>
            <a:ext cx="18278856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b="0" sz="2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일괄 교체 툴이 두 번째 실행에서 껍데기를 한 겹 더 씌운 버그를 겪고, </a:t>
            </a:r>
            <a:r>
              <a:rPr b="0" sz="21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조상 노드 제외 + 이미 처리된 것 건너뛰기</a:t>
            </a:r>
            <a:r>
              <a:rPr b="0" sz="2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2중 방어를 넣었다.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9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어필 기술 ④ 현지화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원천을 한 곳으로 묶으면, 성능 최적화까지 정확해진다.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6544056" cy="4343400"/>
          </a:xfrm>
          <a:prstGeom prst="roundRect">
            <a:avLst>
              <a:gd name="adj" fmla="val 273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9736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6099048"/>
            <a:ext cx="57210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CSV 한 장이 원천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9736" y="6848856"/>
            <a:ext cx="5721096" cy="2020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99"/>
              </a:spcAft>
            </a:pPr>
            <a:r>
              <a:rPr b="0" sz="2228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구글 시트 → CSV(</a:t>
            </a:r>
            <a:r>
              <a:rPr b="0" sz="2228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139키 × 2언어</a:t>
            </a:r>
            <a:r>
              <a:rPr b="0" sz="2228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). 코드 · 씬에 문자열 하드코딩 </a:t>
            </a:r>
            <a:r>
              <a:rPr b="0" sz="2228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0</a:t>
            </a:r>
            <a:r>
              <a:rPr b="0" sz="2228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599"/>
              </a:spcAft>
            </a:pPr>
            <a:r>
              <a:rPr b="0" sz="2228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정적 문구는 </a:t>
            </a: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LocalizedText</a:t>
            </a:r>
            <a:r>
              <a:rPr b="0" sz="2228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바인더 + 키, 동적 문구(HP · 턴)는 </a:t>
            </a: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Loc.GetText(key, args)</a:t>
            </a:r>
            <a:r>
              <a:rPr b="0" sz="2228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1496" y="4937760"/>
            <a:ext cx="6544056" cy="4343400"/>
          </a:xfrm>
          <a:prstGeom prst="roundRect">
            <a:avLst>
              <a:gd name="adj" fmla="val 273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32976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함정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2976" y="6099048"/>
            <a:ext cx="57210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값이 아니라 키를 바꾼다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2976" y="6848856"/>
            <a:ext cx="5721096" cy="2020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31"/>
              </a:spcAft>
            </a:pPr>
            <a:r>
              <a:rPr b="0" sz="234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동적 문구에 바인더를 붙이면 언어 전환 시 </a:t>
            </a:r>
            <a:r>
              <a:rPr b="0" sz="234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코드와 컴포넌트가 서로 덮어쓴다.</a:t>
            </a:r>
          </a:p>
          <a:p>
            <a:pPr algn="l">
              <a:lnSpc>
                <a:spcPct val="130000"/>
              </a:lnSpc>
              <a:spcAft>
                <a:spcPts val="631"/>
              </a:spcAft>
            </a:pPr>
            <a:r>
              <a:rPr b="0" sz="234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같은 칸을 여러 문구가 돌려 쓸 때는 값이 아니라 </a:t>
            </a:r>
            <a:r>
              <a:rPr b="0" sz="234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키를 갈아 끼운다</a:t>
            </a:r>
            <a:r>
              <a:rPr b="0" sz="234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b="0" sz="2158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SetKey</a:t>
            </a:r>
            <a:r>
              <a:rPr b="0" sz="234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94736" y="4937760"/>
            <a:ext cx="6544056" cy="4343400"/>
          </a:xfrm>
          <a:prstGeom prst="roundRect">
            <a:avLst>
              <a:gd name="adj" fmla="val 2736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206216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성능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6216" y="6099048"/>
            <a:ext cx="57210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구울 글자를 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06216" y="6848856"/>
            <a:ext cx="5721096" cy="2020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31"/>
              </a:spcAft>
            </a:pPr>
            <a:r>
              <a:rPr b="0" sz="234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화면 글씨의 원천이 CSV 한 장뿐이라 </a:t>
            </a:r>
            <a:r>
              <a:rPr b="0" sz="234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거기 없는 글자는 게임에도 안 나온다.</a:t>
            </a:r>
          </a:p>
          <a:p>
            <a:pPr algn="l">
              <a:lnSpc>
                <a:spcPct val="130000"/>
              </a:lnSpc>
              <a:spcAft>
                <a:spcPts val="631"/>
              </a:spcAft>
            </a:pPr>
            <a:r>
              <a:rPr b="0" sz="234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실측 </a:t>
            </a:r>
            <a:r>
              <a:rPr b="0" sz="234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343자</a:t>
            </a:r>
            <a:r>
              <a:rPr b="0" sz="234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(한글 274)를 시작 로딩에서 한 번에 구워 런타임 끊김을 없앴다.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8256" y="9610344"/>
            <a:ext cx="6495288" cy="2688335"/>
          </a:xfrm>
          <a:prstGeom prst="roundRect">
            <a:avLst>
              <a:gd name="adj" fmla="val 442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9884664"/>
            <a:ext cx="5946648" cy="13441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5600">
                <a:solidFill>
                  <a:srgbClr val="0073FF"/>
                </a:solidFill>
                <a:latin typeface="Pretendard ExtraBold"/>
                <a:ea typeface="Pretendard ExtraBold"/>
                <a:cs typeface="Pretendard ExtraBold"/>
              </a:rPr>
              <a:t>139키 × 2언어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2576" y="11088928"/>
            <a:ext cx="5946648" cy="10215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원천 = CSV 한 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5880" y="9610344"/>
            <a:ext cx="6495288" cy="2688335"/>
          </a:xfrm>
          <a:prstGeom prst="roundRect">
            <a:avLst>
              <a:gd name="adj" fmla="val 442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20200" y="9884664"/>
            <a:ext cx="5946648" cy="13441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5600">
                <a:solidFill>
                  <a:srgbClr val="0073FF"/>
                </a:solidFill>
                <a:latin typeface="Pretendard ExtraBold"/>
                <a:ea typeface="Pretendard ExtraBold"/>
                <a:cs typeface="Pretendard ExtraBold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0200" y="11088928"/>
            <a:ext cx="5946648" cy="10215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코드 · 씬 하드코딩 문자열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843504" y="9610344"/>
            <a:ext cx="6495288" cy="2688335"/>
          </a:xfrm>
          <a:prstGeom prst="roundRect">
            <a:avLst>
              <a:gd name="adj" fmla="val 442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117824" y="9884664"/>
            <a:ext cx="5946648" cy="13441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5600">
                <a:solidFill>
                  <a:srgbClr val="0073FF"/>
                </a:solidFill>
                <a:latin typeface="Pretendard ExtraBold"/>
                <a:ea typeface="Pretendard ExtraBold"/>
                <a:cs typeface="Pretendard ExtraBold"/>
              </a:rPr>
              <a:t>343자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17824" y="11088928"/>
            <a:ext cx="5946648" cy="10215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시작 로딩에 미리 굽는 글자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10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아키텍처 결정이 3주 뒤에 값을 한 순간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Core에 UnityEngine이 없어서, 에디터를 켜지 않고 보드 60,000개를 검증할 수 있었다.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6519672" cy="5074920"/>
          </a:xfrm>
          <a:prstGeom prst="roundRect">
            <a:avLst>
              <a:gd name="adj" fmla="val 2342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9736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6099048"/>
            <a:ext cx="56967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불변식이 거짓이었다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9736" y="6848856"/>
            <a:ext cx="5696712" cy="2752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65"/>
              </a:spcAft>
            </a:pP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코드 주석은 "벽과 구멍 이외의 모든 칸이 항상 채워진다"고 </a:t>
            </a:r>
            <a:r>
              <a:rPr b="0" sz="2375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주장</a:t>
            </a: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했고, 비정형 보드 퍼즈를 포함한 </a:t>
            </a:r>
            <a:r>
              <a:rPr b="0" sz="2375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테스트 166개가 통과 중이었다.</a:t>
            </a:r>
          </a:p>
          <a:p>
            <a:pPr algn="l">
              <a:lnSpc>
                <a:spcPct val="130000"/>
              </a:lnSpc>
              <a:spcAft>
                <a:spcPts val="665"/>
              </a:spcAft>
            </a:pPr>
            <a:r>
              <a:rPr b="0" sz="2375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그런데 실기에서 벽 밑에 빈 칸이 남았다.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4937760"/>
            <a:ext cx="6519672" cy="5074920"/>
          </a:xfrm>
          <a:prstGeom prst="roundRect">
            <a:avLst>
              <a:gd name="adj" fmla="val 2342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45167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7" y="6099048"/>
            <a:ext cx="56967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Unity 없이 돌린다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6848856"/>
            <a:ext cx="5696712" cy="2752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3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.csproj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에 Core 소스를 넣는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한 줄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→ Unity 없이 콘솔 앱으로 컴파일.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무작위 보드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60,000개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를 훑어 반례를 수집했다. 같은 방식으로 테스트도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`dotnet test` 0.3초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완주.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819120" y="4937760"/>
            <a:ext cx="6519672" cy="5074920"/>
          </a:xfrm>
          <a:prstGeom prst="roundRect">
            <a:avLst>
              <a:gd name="adj" fmla="val 2342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230600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30600" y="6099048"/>
            <a:ext cx="56967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퍼즈가 전부 잡았다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30600" y="6848856"/>
            <a:ext cx="5696712" cy="2752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이번에 나온 버그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3개를 전부 퍼즈가 잡았다.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손으로 짠 테스트 166개는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하나도 못 잡았다.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8256" y="10378440"/>
            <a:ext cx="20290536" cy="1920239"/>
          </a:xfrm>
          <a:prstGeom prst="roundRect">
            <a:avLst>
              <a:gd name="adj" fmla="val 6190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48256" y="10378440"/>
            <a:ext cx="155448" cy="1920239"/>
          </a:xfrm>
          <a:prstGeom prst="rect">
            <a:avLst/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71216" y="10561319"/>
            <a:ext cx="18644616" cy="15544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200">
                <a:solidFill>
                  <a:srgbClr val="7AB8FF"/>
                </a:solidFill>
                <a:latin typeface="Pretendard Bold"/>
                <a:ea typeface="Pretendard Bold"/>
                <a:cs typeface="Pretendard Bold"/>
              </a:rPr>
              <a:t>불변식은 주장이지 보장이 아니다.</a:t>
            </a:r>
            <a:r>
              <a:rPr b="0" sz="3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테스트가 있다는 사실이 오히려 안심시켰다.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b="0" sz="23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noEngineReferences</a:t>
            </a:r>
            <a:r>
              <a:rPr b="0" sz="2500">
                <a:solidFill>
                  <a:srgbClr val="C9C9C9"/>
                </a:solidFill>
                <a:latin typeface="Pretendard Bold"/>
                <a:ea typeface="Pretendard Bold"/>
                <a:cs typeface="Pretendard Bold"/>
              </a:rPr>
              <a:t> 한 줄이 없었다면 이 반례를 찾을 방법 자체가 없었다.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11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트러블슈팅 대표 3건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재발하는 버그는 주의가 아니라 코드로 막는다.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6495288" cy="7360919"/>
          </a:xfrm>
          <a:prstGeom prst="roundRect">
            <a:avLst>
              <a:gd name="adj" fmla="val 183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9736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① 3번 재발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6099048"/>
            <a:ext cx="56723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게이지가 안 줄어든다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9736" y="6848856"/>
            <a:ext cx="5672328" cy="5038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3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Image.type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이 </a:t>
            </a:r>
            <a:r>
              <a:rPr b="0" sz="23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Filled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가 아니면 </a:t>
            </a:r>
            <a:r>
              <a:rPr b="0" sz="23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fillAmount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가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아무 일도 안 한다.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UI 스프라이트를 꽂을 때 Unity가 9슬라이스를 감지해 </a:t>
            </a:r>
            <a:r>
              <a:rPr b="0" sz="23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Sliced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로 되돌려 놓고 있었다.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→ </a:t>
            </a:r>
            <a:r>
              <a:rPr b="0" sz="23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Awake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에서 게이지 3종을 강제.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세 번 재발했다는 것은 코드 레벨 방어가 필요했다는 뜻이다.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5880" y="4937760"/>
            <a:ext cx="6495288" cy="7360919"/>
          </a:xfrm>
          <a:prstGeom prst="roundRect">
            <a:avLst>
              <a:gd name="adj" fmla="val 183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57360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② 불변식 위반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7360" y="6099048"/>
            <a:ext cx="56723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벽 밑에 빈 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7360" y="6848856"/>
            <a:ext cx="5672328" cy="5038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대각 슬라이드는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한 칸짜리 이동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이라 출처가 정확히 대각선 위여야 하는데,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그 자리가 벽 · 보드 밖 · 구멍이면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도달 가능한 타일이 물리적으로 없다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(가장 흔한 경우는 부서진 벽이 남긴 자리).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→ 구멍을 리필 입구까지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걸어 올라가게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해 옆 타일로 메운다.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뷰는 한 줄도 안 고쳤다.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843504" y="4937760"/>
            <a:ext cx="6495288" cy="7360919"/>
          </a:xfrm>
          <a:prstGeom prst="roundRect">
            <a:avLst>
              <a:gd name="adj" fmla="val 183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254984" y="5349240"/>
            <a:ext cx="3840480" cy="585216"/>
          </a:xfrm>
          <a:prstGeom prst="roundRect">
            <a:avLst>
              <a:gd name="adj" fmla="val 15625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③ 확률의 단위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54984" y="6099048"/>
            <a:ext cx="56723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4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보스 타일이 도배된다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54984" y="6848856"/>
            <a:ext cx="5672328" cy="5038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확률이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리필 타일 하나하나에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굴려지고 있었다. 한 웨이브 10칸이면 주사위를 10번 던진다.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"5%"가 실제로는 `1 − 0.95¹⁰ = 40%`였다.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→ 동시 상한 + 웨이브 누적 카운터.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확률은 "무엇 당(per)"인지 같이 적는다.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12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최적화 &amp; 런타임 안정성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설정 하나가 게임의 핵심 손맛을 갉아먹고 있었다.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20290536" cy="1874519"/>
          </a:xfrm>
          <a:prstGeom prst="roundRect">
            <a:avLst>
              <a:gd name="adj" fmla="val 6341"/>
            </a:avLst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48256" y="4937760"/>
            <a:ext cx="155448" cy="1874519"/>
          </a:xfrm>
          <a:prstGeom prst="rect">
            <a:avLst/>
          </a:prstGeom>
          <a:solidFill>
            <a:srgbClr val="D1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5138928"/>
            <a:ext cx="18644616" cy="1472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743">
                <a:solidFill>
                  <a:srgbClr val="D1362B"/>
                </a:solidFill>
                <a:latin typeface="Pretendard Bold"/>
                <a:ea typeface="Pretendard Bold"/>
                <a:cs typeface="Pretendard Bold"/>
              </a:rPr>
              <a:t>30fps 상한 — 성능만의 문제가 아니었다</a:t>
            </a:r>
          </a:p>
          <a:p>
            <a:pPr algn="l">
              <a:lnSpc>
                <a:spcPct val="122000"/>
              </a:lnSpc>
              <a:spcBef>
                <a:spcPts val="685"/>
              </a:spcBef>
            </a:pP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아무도 </a:t>
            </a: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Application.targetFrameRate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를 안 정했다. 기본값 −1 = 플랫폼 기본값이고 </a:t>
            </a:r>
            <a:r>
              <a:rPr b="0" sz="2143">
                <a:solidFill>
                  <a:srgbClr val="D1362B"/>
                </a:solidFill>
                <a:latin typeface="Pretendard Bold"/>
                <a:ea typeface="Pretendard Bold"/>
                <a:cs typeface="Pretendard Bold"/>
              </a:rPr>
              <a:t>모바일에서 그건 30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이다.</a:t>
            </a:r>
          </a:p>
          <a:p>
            <a:pPr algn="l">
              <a:lnSpc>
                <a:spcPct val="122000"/>
              </a:lnSpc>
              <a:spcBef>
                <a:spcPts val="428"/>
              </a:spcBef>
            </a:pP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한 프레임 33ms는 </a:t>
            </a:r>
            <a:r>
              <a:rPr b="0" sz="2143">
                <a:solidFill>
                  <a:srgbClr val="D1362B"/>
                </a:solidFill>
                <a:latin typeface="Pretendard Bold"/>
                <a:ea typeface="Pretendard Bold"/>
                <a:cs typeface="Pretendard Bold"/>
              </a:rPr>
              <a:t>Lv0 패링 판정 폭(0.25초)의 13%</a:t>
            </a:r>
            <a:r>
              <a:rPr b="0" sz="2143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— 정확히 눌러도 프레임 경계에 걸려 놓친다. → </a:t>
            </a:r>
            <a:r>
              <a:rPr b="0" sz="2143">
                <a:solidFill>
                  <a:srgbClr val="D1362B"/>
                </a:solidFill>
                <a:latin typeface="Pretendard Bold"/>
                <a:ea typeface="Pretendard Bold"/>
                <a:cs typeface="Pretendard Bold"/>
              </a:rPr>
              <a:t>60 고정.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8256" y="7123176"/>
            <a:ext cx="20290536" cy="694944"/>
          </a:xfrm>
          <a:prstGeom prst="roundRect">
            <a:avLst>
              <a:gd name="adj" fmla="val 11842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7123176"/>
            <a:ext cx="3723436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항목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9012" y="7123176"/>
            <a:ext cx="4882896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6308" y="7123176"/>
            <a:ext cx="8941003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이유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48256" y="7927848"/>
            <a:ext cx="20290536" cy="774192"/>
          </a:xfrm>
          <a:prstGeom prst="roundRect">
            <a:avLst>
              <a:gd name="adj" fmla="val 1062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51176" y="7982712"/>
            <a:ext cx="3723436" cy="664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BGM 6곡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9012" y="7982712"/>
            <a:ext cx="4882896" cy="664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Streaming / Vorbis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6308" y="7982712"/>
            <a:ext cx="8941003" cy="664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원본 PCM이 통째로 빌드에 들어가던 것 차단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48256" y="8811768"/>
            <a:ext cx="20290536" cy="774192"/>
          </a:xfrm>
          <a:prstGeom prst="roundRect">
            <a:avLst>
              <a:gd name="adj" fmla="val 10629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51176" y="8866632"/>
            <a:ext cx="3723436" cy="664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단발 효과음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9012" y="8866632"/>
            <a:ext cx="4882896" cy="664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DecompressOnLoad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6308" y="8866632"/>
            <a:ext cx="8941003" cy="664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스트리밍하면 </a:t>
            </a:r>
            <a:r>
              <a:rPr b="0" sz="255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눌린 뒤에</a:t>
            </a:r>
            <a:r>
              <a:rPr b="0" sz="25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소리가 난다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48256" y="9695688"/>
            <a:ext cx="20290536" cy="774192"/>
          </a:xfrm>
          <a:prstGeom prst="roundRect">
            <a:avLst>
              <a:gd name="adj" fmla="val 1062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51176" y="9750552"/>
            <a:ext cx="3723436" cy="664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도트 스프라이트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9012" y="9750552"/>
            <a:ext cx="4882896" cy="664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Point · 무압축 · 밉맵 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6308" y="9750552"/>
            <a:ext cx="8941003" cy="664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이중선형 필터로 흐려지는 것 방지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48256" y="10762488"/>
            <a:ext cx="20290536" cy="1536191"/>
          </a:xfrm>
          <a:prstGeom prst="roundRect">
            <a:avLst>
              <a:gd name="adj" fmla="val 773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25496" y="10927080"/>
            <a:ext cx="18736056" cy="12070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1인 개발에 특히 필요했던 안정성</a:t>
            </a:r>
          </a:p>
          <a:p>
            <a:pPr algn="l">
              <a:lnSpc>
                <a:spcPct val="122000"/>
              </a:lnSpc>
              <a:spcBef>
                <a:spcPts val="487"/>
              </a:spcBef>
            </a:pPr>
            <a:r>
              <a:rPr b="0" sz="21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널 세이프 슬롯</a:t>
            </a:r>
            <a:r>
              <a:rPr b="0" sz="2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(클립 · 스프라이트가 비어도 안 멈춘다)  ·  </a:t>
            </a:r>
            <a:r>
              <a:rPr b="0" sz="21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도메인 리로드 OFF 대응</a:t>
            </a:r>
            <a:r>
              <a:rPr b="0" sz="2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ResetStatics()</a:t>
            </a:r>
            <a:r>
              <a:rPr b="0" sz="2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 ·  세이브 </a:t>
            </a:r>
            <a:r>
              <a:rPr b="0" sz="21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v1→v2→v3</a:t>
            </a:r>
            <a:r>
              <a:rPr b="0" sz="2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마이그레이션  ·  정적 서비스 19종이 </a:t>
            </a:r>
            <a:r>
              <a:rPr b="0" sz="21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static class</a:t>
            </a:r>
            <a:r>
              <a:rPr b="0" sz="2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라 </a:t>
            </a:r>
            <a:r>
              <a:rPr b="0" sz="21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`DontDestroyOnLoad`가 단 2개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13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Future Work: 정직하게 남은 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 TextBox 9"/>
          <p:cNvSpPr txBox="1"/>
          <p:nvPr/>
        </p:nvSpPr>
        <p:spPr>
          <a:xfrm>
            <a:off x="2377440" y="3675887"/>
            <a:ext cx="1965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2300">
                <a:solidFill>
                  <a:srgbClr val="212121"/>
                </a:solidFill>
                <a:latin typeface="Pretendard Light"/>
                <a:ea typeface="Pretendard Light"/>
                <a:cs typeface="Pretendard Light"/>
              </a:rPr>
              <a:t>시스템은 완성했고, 콘텐츠와 검증이 남았다.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4507992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8256" y="4937760"/>
            <a:ext cx="20290536" cy="713232"/>
          </a:xfrm>
          <a:prstGeom prst="roundRect">
            <a:avLst>
              <a:gd name="adj" fmla="val 11538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1176" y="4937760"/>
            <a:ext cx="546262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8201" y="4937760"/>
            <a:ext cx="1299911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4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상태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8256" y="5760720"/>
            <a:ext cx="20290536" cy="843534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5815584"/>
            <a:ext cx="5462625" cy="733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튜토리얼 2종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8201" y="5815584"/>
            <a:ext cx="12999110" cy="733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설계 · 구현 완료 — 검증 · 영상 녹화 전이라 </a:t>
            </a:r>
            <a:r>
              <a:rPr b="0" sz="265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현재 비활성화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48256" y="6713982"/>
            <a:ext cx="20290536" cy="843534"/>
          </a:xfrm>
          <a:prstGeom prst="roundRect">
            <a:avLst>
              <a:gd name="adj" fmla="val 9756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51176" y="6768846"/>
            <a:ext cx="5462625" cy="733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효과음 3종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8201" y="6768846"/>
            <a:ext cx="12999110" cy="733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슬롯 배선 완료, 클립 선정만 남음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48256" y="7667244"/>
            <a:ext cx="20290536" cy="843534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1176" y="7722108"/>
            <a:ext cx="5462625" cy="733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잡몹 밸런스 수치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8201" y="7722108"/>
            <a:ext cx="12999110" cy="733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시스템 완료, 수치 입력 전 (공용값으로 동작 중)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8256" y="8620506"/>
            <a:ext cx="20290536" cy="843534"/>
          </a:xfrm>
          <a:prstGeom prst="roundRect">
            <a:avLst>
              <a:gd name="adj" fmla="val 9756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8675370"/>
            <a:ext cx="5462625" cy="733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콘텐츠 볼륨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8201" y="8675370"/>
            <a:ext cx="12999110" cy="733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5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월드 2개(6판). 시스템은 확장 대비 완료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48256" y="9738360"/>
            <a:ext cx="20290536" cy="1554480"/>
          </a:xfrm>
          <a:prstGeom prst="roundRect">
            <a:avLst>
              <a:gd name="adj" fmla="val 7647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25496" y="9884664"/>
            <a:ext cx="18736056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616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남은 것이 적은 이유</a:t>
            </a:r>
          </a:p>
          <a:p>
            <a:pPr algn="l">
              <a:lnSpc>
                <a:spcPct val="122000"/>
              </a:lnSpc>
              <a:spcBef>
                <a:spcPts val="631"/>
              </a:spcBef>
            </a:pPr>
            <a:r>
              <a:rPr b="0" sz="225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전부 </a:t>
            </a:r>
            <a:r>
              <a:rPr b="0" sz="225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데이터를 채우는 일</a:t>
            </a:r>
            <a:r>
              <a:rPr b="0" sz="225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이고 코드를 고칠 일이 아니다. 스테이지 · 캐릭터 · 언어 · 기믹 어느 쪽으로 늘려도 </a:t>
            </a:r>
            <a:r>
              <a:rPr b="0" sz="2256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에셋 1개 또는 상속 1개</a:t>
            </a:r>
            <a:r>
              <a:rPr b="0" sz="2256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로 붙는다.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48256" y="11530584"/>
            <a:ext cx="20290536" cy="768095"/>
          </a:xfrm>
          <a:prstGeom prst="roundRect">
            <a:avLst>
              <a:gd name="adj" fmla="val 15476"/>
            </a:avLst>
          </a:prstGeom>
          <a:solidFill>
            <a:srgbClr val="EC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48256" y="11530584"/>
            <a:ext cx="155448" cy="768095"/>
          </a:xfrm>
          <a:prstGeom prst="rect">
            <a:avLst/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25496" y="11731752"/>
            <a:ext cx="18736056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1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튜토리얼이 꺼져 있다는 사실을 </a:t>
            </a:r>
            <a:r>
              <a:rPr b="0" sz="21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먼저</a:t>
            </a:r>
            <a:r>
              <a:rPr b="0" sz="21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 말한다 — 데모 중에 들통나는 것보다 낫다.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1591056"/>
            <a:ext cx="22969728" cy="1145743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76656"/>
            <a:ext cx="22969728" cy="850392"/>
          </a:xfrm>
          <a:prstGeom prst="roundRect">
            <a:avLst>
              <a:gd name="adj" fmla="val 12903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2456" y="85953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55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82160" y="9144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20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5024" y="12454128"/>
            <a:ext cx="21268944" cy="0"/>
          </a:xfrm>
          <a:prstGeom prst="line">
            <a:avLst/>
          </a:prstGeom>
          <a:ln w="1397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39360" y="1257300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b="0" sz="1850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14</a:t>
            </a:r>
          </a:p>
        </p:txBody>
      </p:sp>
      <p:sp>
        <p:nvSpPr>
          <p:cNvPr id="8" name="FREE TextBox 7"/>
          <p:cNvSpPr txBox="1"/>
          <p:nvPr/>
        </p:nvSpPr>
        <p:spPr>
          <a:xfrm>
            <a:off x="3849624" y="1883664"/>
            <a:ext cx="166878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b="0" sz="67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회고: 가장 크게 배운 것 3가지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3328416"/>
            <a:ext cx="21753576" cy="0"/>
          </a:xfrm>
          <a:prstGeom prst="line">
            <a:avLst/>
          </a:prstGeom>
          <a:ln w="15875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48256" y="3785615"/>
            <a:ext cx="20290536" cy="2331720"/>
          </a:xfrm>
          <a:prstGeom prst="roundRect">
            <a:avLst>
              <a:gd name="adj" fmla="val 509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51176" y="4585716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8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4059935"/>
            <a:ext cx="1809597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797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아키텍처는 약속이 아니라 강제여야 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4663440"/>
            <a:ext cx="1809597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"Core에 Unity를 쓰지 말자"는 지켜지지 않는다. </a:t>
            </a:r>
            <a:r>
              <a:rPr b="0" sz="2300">
                <a:solidFill>
                  <a:srgbClr val="004CB3"/>
                </a:solidFill>
                <a:latin typeface="Consolas"/>
                <a:ea typeface="Consolas"/>
                <a:cs typeface="Consolas"/>
              </a:rPr>
              <a:t>noEngineReferences: true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 한 줄이 그것을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컴파일 에러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로 만든 순간부터 규칙이 진짜가 됐다. → 그 덕에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10장의 반례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를 찾았다.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48256" y="6355079"/>
            <a:ext cx="20290536" cy="2331720"/>
          </a:xfrm>
          <a:prstGeom prst="roundRect">
            <a:avLst>
              <a:gd name="adj" fmla="val 509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51176" y="7155179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8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6629399"/>
            <a:ext cx="1809597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797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같은 숫자를 두 곳에 적으면 반드시 어긋난다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7232903"/>
            <a:ext cx="1809597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패링 띠(로직 vs 뷰) · 튜토리얼의 밝은 칸과 누를 수 있는 칸 · 지도의 길 두께와 노드 크기 — 전부 같은 원인이었다.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한 곳에서 파생시키면 어긋날 수가 없다.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48256" y="8924544"/>
            <a:ext cx="20290536" cy="2331720"/>
          </a:xfrm>
          <a:prstGeom prst="roundRect">
            <a:avLst>
              <a:gd name="adj" fmla="val 5098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51176" y="9724644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ctr">
              <a:lnSpc>
                <a:spcPct val="115000"/>
              </a:lnSpc>
            </a:pPr>
            <a:r>
              <a:rPr b="0" sz="28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6" y="9198864"/>
            <a:ext cx="1809597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2797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기획 의도를 코드가 배신하는 지점을 찾는 것이 진짜 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9802367"/>
            <a:ext cx="1809597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잡몹 위협을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턴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으로 세었더니 가만히 있는 것이 최적해가 됐다 → 실시간으로 변경.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소울을 </a:t>
            </a:r>
            <a:r>
              <a:rPr b="0" sz="2500">
                <a:solidFill>
                  <a:srgbClr val="004CB3"/>
                </a:solidFill>
                <a:latin typeface="Pretendard Bold"/>
                <a:ea typeface="Pretendard Bold"/>
                <a:cs typeface="Pretendard Bold"/>
              </a:rPr>
              <a:t>클리어한 판에서 0</a:t>
            </a:r>
            <a:r>
              <a:rPr b="0" sz="25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으로 했더니 빨리 깬 사람이 손해를 봤다 → 스테이지별 매장량으로.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48256" y="11494007"/>
            <a:ext cx="20290536" cy="804672"/>
          </a:xfrm>
          <a:prstGeom prst="roundRect">
            <a:avLst>
              <a:gd name="adj" fmla="val 14772"/>
            </a:avLst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48256" y="11494007"/>
            <a:ext cx="155448" cy="804672"/>
          </a:xfrm>
          <a:prstGeom prst="rect">
            <a:avLst/>
          </a:prstGeom>
          <a:solidFill>
            <a:srgbClr val="00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71216" y="11494007"/>
            <a:ext cx="1864461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35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돌아가게 만드는 것과 </a:t>
            </a:r>
            <a:r>
              <a:rPr b="0" sz="3500">
                <a:solidFill>
                  <a:srgbClr val="7AB8FF"/>
                </a:solidFill>
                <a:latin typeface="Pretendard Bold"/>
                <a:ea typeface="Pretendard Bold"/>
                <a:cs typeface="Pretendard Bold"/>
              </a:rPr>
              <a:t>「의도대로 돌아가게」</a:t>
            </a:r>
            <a:r>
              <a:rPr b="0" sz="35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만드는 것은 다른 일이었다.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